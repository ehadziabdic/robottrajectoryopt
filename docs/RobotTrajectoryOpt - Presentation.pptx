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492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hadziabdic/RobotTrajectoryOpt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hadziabdic/RobotTrajectoryOpt/releases/download/v1.0.1/RobotTrajectoryOpt-win.zip" TargetMode="External"/><Relationship Id="rId7" Type="http://schemas.openxmlformats.org/officeDocument/2006/relationships/hyperlink" Target="https://github.com/ehadziabdic/RobotTrajectoryOp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ehadziabdic/RobotTrajectoryOpt/releases/download/v1.0.1/RobotTrajectoryOpt-macOS-Intel.zip" TargetMode="External"/><Relationship Id="rId5" Type="http://schemas.openxmlformats.org/officeDocument/2006/relationships/hyperlink" Target="https://github.com/ehadziabdic/RobotTrajectoryOpt/releases/download/v1.0.1/RobotTrajectoryOpt-macOS-Silicon.zip" TargetMode="External"/><Relationship Id="rId4" Type="http://schemas.openxmlformats.org/officeDocument/2006/relationships/hyperlink" Target="https://github.com/ehadziabdic/RobotTrajectoryOpt/releases/download/v1.0.1/RobotTrajectoryOpt-linux.z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SARAJEVO  ·  NUMERICAL OPTIMIZATION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Trajectory Optimization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robot to steer itself along a path — safely, using math instead of guesswork.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551176"/>
            <a:ext cx="658368" cy="658368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7" name="Image 0" descr="icons_use/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2735519"/>
            <a:ext cx="289682" cy="28968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9476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the exact steering angle and speed a robot needs, instant by instant, so it follows a path without ever crashing.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9976" y="22860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5152" y="2551176"/>
            <a:ext cx="658368" cy="658368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2" name="Image 1" descr="icons_use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735519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0016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700016" y="379476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small math problem at every step instead of searching a map like a maze-solver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11312" y="228600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76488" y="2551176"/>
            <a:ext cx="658368" cy="658368"/>
          </a:xfrm>
          <a:prstGeom prst="ellipse">
            <a:avLst/>
          </a:prstGeom>
          <a:solidFill>
            <a:srgbClr val="1C2A47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7" name="Image 2" descr="icons_use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831" y="2735519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31352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31352" y="379476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(Model Predictive Control) used in real self-driving cars and robots, built here from scratch for a university course.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B3D5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48640" y="6108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Hadžiabdić   ·   Numerical Optimization   ·   Prof. Dr. Izudin Džafić   ·   2025 / 26</a:t>
            </a:r>
            <a:endParaRPr lang="en-US" sz="1100" dirty="0"/>
          </a:p>
        </p:txBody>
      </p:sp>
      <p:sp>
        <p:nvSpPr>
          <p:cNvPr id="22" name="Text 17">
            <a:hlinkClick r:id="rId6"/>
          </p:cNvPr>
          <p:cNvSpPr txBox="1"/>
          <p:nvPr/>
        </p:nvSpPr>
        <p:spPr>
          <a:xfrm>
            <a:off x="6675120" y="6108192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u="sng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github.com/ehadziabdic/RobotTrajectoryOpt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118585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Sense, Plan, Solve, Act — Ten Times a Second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04672" y="1691640"/>
            <a:ext cx="0" cy="3584448"/>
          </a:xfrm>
          <a:prstGeom prst="line">
            <a:avLst/>
          </a:prstGeom>
          <a:noFill/>
          <a:ln w="19050">
            <a:solidFill>
              <a:srgbClr val="2B3D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35608"/>
            <a:ext cx="512064" cy="512064"/>
          </a:xfrm>
          <a:prstGeom prst="ellipse">
            <a:avLst/>
          </a:prstGeom>
          <a:solidFill>
            <a:srgbClr val="0E1626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6" name="Image 0" descr="icons_use/cross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18" y="1578986"/>
            <a:ext cx="225308" cy="2253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16736" y="13990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16736" y="17251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robot right now - position, heading, speed.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512064" cy="512064"/>
          </a:xfrm>
          <a:prstGeom prst="ellipse">
            <a:avLst/>
          </a:prstGeom>
          <a:solidFill>
            <a:srgbClr val="0E1626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0" name="Image 1" descr="icons_use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18" y="2475098"/>
            <a:ext cx="225308" cy="2253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16736" y="2203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16736" y="2514600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a smooth target path starting from here.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227832"/>
            <a:ext cx="512064" cy="512064"/>
          </a:xfrm>
          <a:prstGeom prst="ellipse">
            <a:avLst/>
          </a:prstGeom>
          <a:solidFill>
            <a:srgbClr val="0E1626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4" name="Image 2" descr="icons_use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18" y="3371210"/>
            <a:ext cx="225308" cy="2253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16736" y="30998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16736" y="341071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Active-Set QP solver, wrapped in an SQP loop, finds the best steering + acceleration for the next 2 seconds - never breaking the robot's limits.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123944"/>
            <a:ext cx="512064" cy="512064"/>
          </a:xfrm>
          <a:prstGeom prst="ellipse">
            <a:avLst/>
          </a:prstGeom>
          <a:solidFill>
            <a:srgbClr val="0E1626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18" name="Image 3" descr="icons_use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018" y="4267322"/>
            <a:ext cx="225308" cy="2253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16736" y="3995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316736" y="430682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just that first move to the real robot.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0E1626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2" name="Image 4" descr="icons_use/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18" y="5163434"/>
            <a:ext cx="225308" cy="22530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16736" y="4892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316736" y="520293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all again, about 10 times a second.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64808" y="1664208"/>
            <a:ext cx="5221224" cy="3320783"/>
          </a:xfrm>
          <a:prstGeom prst="roundRect">
            <a:avLst>
              <a:gd name="adj" fmla="val 1652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pic>
        <p:nvPicPr>
          <p:cNvPr id="26" name="Image 5" descr="icons_use/gui_screensh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1737360"/>
            <a:ext cx="5074920" cy="3174479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37960" y="5076431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 — yellow: driven path · red: target path · blue: direction / calculation offset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989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600200" y="5925312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600200" y="59253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2898648" y="5925312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2898648" y="59253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natID framework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660136" y="5925312"/>
            <a:ext cx="2999232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5660136" y="592531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LDLᵀ solver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860536" y="5925312"/>
            <a:ext cx="3145536" cy="329184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860536" y="5925312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Active-Set QP + SQP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118585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DOWNLOADS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1848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98424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path, predicted horizon &amp; obstacles, redrawn every step.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86200" y="169164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23944" y="161848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built-in scenarios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23944" y="198424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Line, Lane Change, S-Curve.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17296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solver settings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53872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Iterations, tolerance and step size, adjustable live.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324612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23944" y="317296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UI languages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23944" y="353872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Bosnian, German, Spanish, French, Japanese.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472744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509320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 (Intel &amp; Apple Silicon).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86200" y="4800600"/>
            <a:ext cx="73152" cy="73152"/>
          </a:xfrm>
          <a:prstGeom prst="roundRect">
            <a:avLst>
              <a:gd name="adj" fmla="val 25000"/>
            </a:avLst>
          </a:prstGeom>
          <a:solidFill>
            <a:srgbClr val="2EC4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23944" y="472744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23944" y="5093208"/>
            <a:ext cx="2825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license, C++17, no outside libraries.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1691640"/>
            <a:ext cx="4553712" cy="4572000"/>
          </a:xfrm>
          <a:prstGeom prst="roundRect">
            <a:avLst>
              <a:gd name="adj" fmla="val 1606"/>
            </a:avLst>
          </a:prstGeom>
          <a:solidFill>
            <a:srgbClr val="16223B"/>
          </a:solidFill>
          <a:ln w="12700">
            <a:solidFill>
              <a:srgbClr val="2B3D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1984248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2468880"/>
            <a:ext cx="3822192" cy="54864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5" name="Text 23">
            <a:hlinkClick r:id="rId3"/>
          </p:cNvPr>
          <p:cNvSpPr txBox="1"/>
          <p:nvPr/>
        </p:nvSpPr>
        <p:spPr>
          <a:xfrm>
            <a:off x="7452360" y="246888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   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52360" y="3182112"/>
            <a:ext cx="3822192" cy="54864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7" name="Text 25">
            <a:hlinkClick r:id="rId4"/>
          </p:cNvPr>
          <p:cNvSpPr txBox="1"/>
          <p:nvPr/>
        </p:nvSpPr>
        <p:spPr>
          <a:xfrm>
            <a:off x="7452360" y="3182112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   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52360" y="3895344"/>
            <a:ext cx="3822192" cy="54864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29" name="Text 27">
            <a:hlinkClick r:id="rId5"/>
          </p:cNvPr>
          <p:cNvSpPr txBox="1"/>
          <p:nvPr/>
        </p:nvSpPr>
        <p:spPr>
          <a:xfrm>
            <a:off x="7452360" y="3895344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macOS — Apple Silicon   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52360" y="4608576"/>
            <a:ext cx="3822192" cy="548640"/>
          </a:xfrm>
          <a:prstGeom prst="roundRect">
            <a:avLst>
              <a:gd name="adj" fmla="val 50000"/>
            </a:avLst>
          </a:prstGeom>
          <a:solidFill>
            <a:srgbClr val="1C2A47"/>
          </a:solidFill>
          <a:ln w="15875">
            <a:solidFill>
              <a:srgbClr val="2EC4D8"/>
            </a:solidFill>
            <a:prstDash val="solid"/>
          </a:ln>
        </p:spPr>
      </p:sp>
      <p:sp>
        <p:nvSpPr>
          <p:cNvPr id="31" name="Text 29">
            <a:hlinkClick r:id="rId6"/>
          </p:cNvPr>
          <p:cNvSpPr txBox="1"/>
          <p:nvPr/>
        </p:nvSpPr>
        <p:spPr>
          <a:xfrm>
            <a:off x="7452360" y="4608576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u="sng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macOS — Intel   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52360" y="5376672"/>
            <a:ext cx="3822192" cy="0"/>
          </a:xfrm>
          <a:prstGeom prst="line">
            <a:avLst/>
          </a:prstGeom>
          <a:noFill/>
          <a:ln w="12700">
            <a:solidFill>
              <a:srgbClr val="2B3D5F"/>
            </a:solidFill>
            <a:prstDash val="solid"/>
          </a:ln>
        </p:spPr>
      </p:sp>
      <p:sp>
        <p:nvSpPr>
          <p:cNvPr id="33" name="Text 31">
            <a:hlinkClick r:id="rId7"/>
          </p:cNvPr>
          <p:cNvSpPr txBox="1"/>
          <p:nvPr/>
        </p:nvSpPr>
        <p:spPr>
          <a:xfrm>
            <a:off x="7452360" y="55046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u="sng" dirty="0">
                <a:solidFill>
                  <a:srgbClr val="2EC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github.com/ehadziabdic/RobotTrajectoryOpt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583387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361</Words>
  <Application>Microsoft Office PowerPoint</Application>
  <PresentationFormat>Widescreen</PresentationFormat>
  <Paragraphs>56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Emin Hadziabdic</cp:lastModifiedBy>
  <cp:revision>2</cp:revision>
  <dcterms:created xsi:type="dcterms:W3CDTF">2026-09-16T17:39:44Z</dcterms:created>
  <dcterms:modified xsi:type="dcterms:W3CDTF">2026-09-16T19:27:09Z</dcterms:modified>
</cp:coreProperties>
</file>