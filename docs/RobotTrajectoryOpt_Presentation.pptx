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1.png"/><Relationship Id="rId3" Type="http://schemas.openxmlformats.org/officeDocument/2006/relationships/image" Target="../media/image-19-1.png"/><Relationship Id="rId4" Type="http://schemas.openxmlformats.org/officeDocument/2006/relationships/image" Target="../media/image-19-1.png"/><Relationship Id="rId5" Type="http://schemas.openxmlformats.org/officeDocument/2006/relationships/image" Target="../media/image-19-1.png"/><Relationship Id="rId6" Type="http://schemas.openxmlformats.org/officeDocument/2006/relationships/image" Target="../media/image-19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2.png"/><Relationship Id="rId4" Type="http://schemas.openxmlformats.org/officeDocument/2006/relationships/image" Target="../media/image-20-2.png"/><Relationship Id="rId5" Type="http://schemas.openxmlformats.org/officeDocument/2006/relationships/image" Target="../media/image-20-2.png"/><Relationship Id="rId6" Type="http://schemas.openxmlformats.org/officeDocument/2006/relationships/image" Target="../media/image-20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ircuit_pattern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6217920" y="-1097280"/>
            <a:ext cx="7772400" cy="7772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502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ETF SARAJEVO   ·   DATA SCIENCE &amp; ARTIFICIAL INTELLIGENCE   ·   NUMERICAL OPTIMIZATION</a:t>
            </a:r>
            <a:endParaRPr lang="en-US" sz="1050" dirty="0"/>
          </a:p>
        </p:txBody>
      </p:sp>
      <p:pic>
        <p:nvPicPr>
          <p:cNvPr id="4" name="Image 1" descr="/home/claude/repo/res/image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051560" cy="10515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783080" y="123444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RobotTrajectoryOpt</a:t>
            </a:r>
            <a:endParaRPr lang="en-US" sz="4600" dirty="0"/>
          </a:p>
        </p:txBody>
      </p:sp>
      <p:sp>
        <p:nvSpPr>
          <p:cNvPr id="6" name="Text 2"/>
          <p:cNvSpPr txBox="1"/>
          <p:nvPr/>
        </p:nvSpPr>
        <p:spPr>
          <a:xfrm>
            <a:off x="1783080" y="199339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Robot Path Planning via Nonlinear Model Predictive Control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2788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Active-Set QP + SQP Trajectory Optimization, with Real-Time Visualization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3429000"/>
            <a:ext cx="11185855" cy="1417320"/>
          </a:xfrm>
          <a:prstGeom prst="roundRect">
            <a:avLst>
              <a:gd name="adj" fmla="val 5806"/>
            </a:avLst>
          </a:prstGeom>
          <a:solidFill>
            <a:srgbClr val="16223B"/>
          </a:solidFill>
          <a:ln w="12700">
            <a:solidFill>
              <a:srgbClr val="2B3D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3685032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995928"/>
            <a:ext cx="2476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Emin Hadžiabdić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3573704" y="3685032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3573704" y="3995928"/>
            <a:ext cx="2476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Numerical Optimization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3299384" y="3648456"/>
            <a:ext cx="0" cy="978408"/>
          </a:xfrm>
          <a:prstGeom prst="line">
            <a:avLst/>
          </a:prstGeom>
          <a:noFill/>
          <a:ln w="12700">
            <a:solidFill>
              <a:srgbClr val="2B3D5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370168" y="3685032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PROFESSOR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6370168" y="3995928"/>
            <a:ext cx="2476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Dr. Izudin Džafić</a:t>
            </a:r>
            <a:endParaRPr lang="en-US" sz="1550" dirty="0"/>
          </a:p>
        </p:txBody>
      </p:sp>
      <p:sp>
        <p:nvSpPr>
          <p:cNvPr id="16" name="Shape 12"/>
          <p:cNvSpPr/>
          <p:nvPr/>
        </p:nvSpPr>
        <p:spPr>
          <a:xfrm>
            <a:off x="6095848" y="3648456"/>
            <a:ext cx="0" cy="978408"/>
          </a:xfrm>
          <a:prstGeom prst="line">
            <a:avLst/>
          </a:prstGeom>
          <a:noFill/>
          <a:ln w="12700">
            <a:solidFill>
              <a:srgbClr val="2B3D5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166631" y="3685032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ACADEMIC YEAR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9166631" y="3995928"/>
            <a:ext cx="2476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/ 26</a:t>
            </a:r>
            <a:endParaRPr lang="en-US" sz="1550" dirty="0"/>
          </a:p>
        </p:txBody>
      </p:sp>
      <p:sp>
        <p:nvSpPr>
          <p:cNvPr id="19" name="Shape 15"/>
          <p:cNvSpPr/>
          <p:nvPr/>
        </p:nvSpPr>
        <p:spPr>
          <a:xfrm>
            <a:off x="8892311" y="3648456"/>
            <a:ext cx="0" cy="978408"/>
          </a:xfrm>
          <a:prstGeom prst="line">
            <a:avLst/>
          </a:prstGeom>
          <a:noFill/>
          <a:ln w="12700">
            <a:solidFill>
              <a:srgbClr val="2B3D5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93192" y="5193792"/>
            <a:ext cx="3063240" cy="512064"/>
          </a:xfrm>
          <a:prstGeom prst="roundRect">
            <a:avLst>
              <a:gd name="adj" fmla="val 10714"/>
            </a:avLst>
          </a:prstGeom>
          <a:solidFill>
            <a:srgbClr val="F4F8FB"/>
          </a:solidFill>
          <a:ln/>
        </p:spPr>
      </p:sp>
      <p:pic>
        <p:nvPicPr>
          <p:cNvPr id="21" name="Image 2" descr="/home/claude/assets/etf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5294376"/>
            <a:ext cx="1371600" cy="374904"/>
          </a:xfrm>
          <a:prstGeom prst="rect">
            <a:avLst/>
          </a:prstGeom>
        </p:spPr>
      </p:pic>
      <p:pic>
        <p:nvPicPr>
          <p:cNvPr id="22" name="Image 3" descr="/home/claude/assets/dsai_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9112" y="5257800"/>
            <a:ext cx="868680" cy="397764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8031175" y="5285232"/>
            <a:ext cx="3657600" cy="384048"/>
          </a:xfrm>
          <a:prstGeom prst="roundRect">
            <a:avLst>
              <a:gd name="adj" fmla="val 50000"/>
            </a:avLst>
          </a:prstGeom>
          <a:solidFill>
            <a:srgbClr val="1C2A4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031175" y="52852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github.com/ehadziabdic/RobotTrajectoryOpt</a:t>
            </a:r>
            <a:endParaRPr lang="en-US" sz="1050" dirty="0"/>
          </a:p>
        </p:txBody>
      </p:sp>
      <p:sp>
        <p:nvSpPr>
          <p:cNvPr id="25" name="Text 19"/>
          <p:cNvSpPr txBox="1"/>
          <p:nvPr/>
        </p:nvSpPr>
        <p:spPr>
          <a:xfrm>
            <a:off x="50292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ROBOTTRAJECTORYOPT</a:t>
            </a:r>
            <a:endParaRPr lang="en-US" sz="800" dirty="0"/>
          </a:p>
        </p:txBody>
      </p:sp>
      <p:sp>
        <p:nvSpPr>
          <p:cNvPr id="26" name="Text 20"/>
          <p:cNvSpPr txBox="1"/>
          <p:nvPr/>
        </p:nvSpPr>
        <p:spPr>
          <a:xfrm>
            <a:off x="1114013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CORE IDEA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as Optimization, Not Search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85855" y="438912"/>
            <a:ext cx="502920" cy="502920"/>
          </a:xfrm>
          <a:prstGeom prst="ellipse">
            <a:avLst/>
          </a:prstGeom>
          <a:solidFill>
            <a:srgbClr val="1C2A47"/>
          </a:solidFill>
          <a:ln w="12700">
            <a:solidFill>
              <a:srgbClr val="2B3D5F"/>
            </a:solidFill>
            <a:prstDash val="solid"/>
          </a:ln>
        </p:spPr>
      </p:sp>
      <p:pic>
        <p:nvPicPr>
          <p:cNvPr id="5" name="Image 0" descr="/home/claude/icons/compass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1235" y="504292"/>
            <a:ext cx="372161" cy="37216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150876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A term project for the Numerical Optimization course: 2D robot path planning is reframed as </a:t>
            </a:r>
            <a:pPr indent="0" marL="0">
              <a:buNone/>
            </a:pPr>
            <a:r>
              <a:rPr lang="en-US" sz="1350" b="1" dirty="0">
                <a:solidFill>
                  <a:srgbClr val="2E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 constrained optimization problem</a:t>
            </a:r>
            <a:pPr indent="0" marL="0">
              <a:spcAft>
                <a:spcPts val="1600"/>
              </a:spcAft>
              <a:buNone/>
            </a:pPr>
            <a:r>
              <a:rPr lang="en-US" sz="13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a discrete grid search.</a:t>
            </a:r>
            <a:endParaRPr lang="en-US" sz="135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3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At every control step, solve for the steering angle and acceleration that keep the robot closest to a reference path — without ever breaking its physical limits.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Vehicle dynamics </a:t>
            </a:r>
            <a:pPr indent="0" marL="0">
              <a:buNone/>
            </a:pPr>
            <a:r>
              <a:rPr lang="en-US" sz="1350" b="1" i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</a:t>
            </a:r>
            <a:pPr indent="0" marL="0">
              <a:spcAft>
                <a:spcPts val="1600"/>
              </a:spcAft>
              <a:buNone/>
            </a:pPr>
            <a:r>
              <a:rPr lang="en-US" sz="13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constraints, so the controller can never propose a command the robot could not physically execute — planning and control become one formulation.</a:t>
            </a:r>
            <a:endParaRPr lang="en-US" sz="135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3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This is the same class of controller (MPC) used in production automotive and robotics systems, scaled to a transparent, from-scratch educational implementation.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178040" y="1508760"/>
            <a:ext cx="4510735" cy="4251960"/>
          </a:xfrm>
          <a:prstGeom prst="roundRect">
            <a:avLst>
              <a:gd name="adj" fmla="val 1935"/>
            </a:avLst>
          </a:prstGeom>
          <a:solidFill>
            <a:srgbClr val="16223B"/>
          </a:solidFill>
          <a:ln w="12700">
            <a:solidFill>
              <a:srgbClr val="2B3D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452360" y="1737360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7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NOT A*?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452360" y="2121408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A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 / grid search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452360" y="2450592"/>
            <a:ext cx="3962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on a discretized map; no native concept of speed or turning radius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452360" y="3108960"/>
            <a:ext cx="3962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separate tracking controller layered on top of the planned path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7452360" y="3767328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MPC / this project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7452360" y="4096512"/>
            <a:ext cx="3962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 constrained QP — dynamics are baked in as equality constraints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7452360" y="4754880"/>
            <a:ext cx="3962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is guaranteed physically realizable by construction, every step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ROBOTTRAJECTORYOPT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3809848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1114013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ircuit_pattern.png">    </p:cNvPr>
          <p:cNvPicPr>
            <a:picLocks noChangeAspect="1"/>
          </p:cNvPicPr>
          <p:nvPr/>
        </p:nvPicPr>
        <p:blipFill>
          <a:blip r:embed="rId1">
            <a:alphaModFix amt="11000"/>
          </a:blip>
          <a:stretch>
            <a:fillRect/>
          </a:stretch>
        </p:blipFill>
        <p:spPr>
          <a:xfrm flipH="1">
            <a:off x="-2743200" y="1828800"/>
            <a:ext cx="82296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071055" y="0"/>
            <a:ext cx="5120640" cy="6858000"/>
          </a:xfrm>
          <a:prstGeom prst="roundRect">
            <a:avLst/>
          </a:prstGeom>
          <a:solidFill>
            <a:srgbClr val="16223B">
              <a:alpha val="45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11480" y="137160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0" b="1" dirty="0">
                <a:solidFill>
                  <a:srgbClr val="1C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5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342900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Formulation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422452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E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model, decision vector, cost function &amp; constraints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30352" y="4919472"/>
            <a:ext cx="100584" cy="100584"/>
          </a:xfrm>
          <a:prstGeom prst="ellipse">
            <a:avLst/>
          </a:prstGeom>
          <a:solidFill>
            <a:srgbClr val="FF7A3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58952" y="477316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Kinematic bicycle vehicle model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30352" y="5225796"/>
            <a:ext cx="100584" cy="100584"/>
          </a:xfrm>
          <a:prstGeom prst="ellipse">
            <a:avLst/>
          </a:prstGeom>
          <a:solidFill>
            <a:srgbClr val="FF7A3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58952" y="507949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 vector &amp; quadratic cost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30352" y="5532120"/>
            <a:ext cx="100584" cy="100584"/>
          </a:xfrm>
          <a:prstGeom prst="ellipse">
            <a:avLst/>
          </a:prstGeom>
          <a:solidFill>
            <a:srgbClr val="FF7A3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58952" y="538581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Quintic reference path generation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30352" y="5838444"/>
            <a:ext cx="100584" cy="100584"/>
          </a:xfrm>
          <a:prstGeom prst="ellipse">
            <a:avLst/>
          </a:prstGeom>
          <a:solidFill>
            <a:srgbClr val="FF7A3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58952" y="569214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Dynamics &amp; actuator constraints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30352" y="6144768"/>
            <a:ext cx="100584" cy="100584"/>
          </a:xfrm>
          <a:prstGeom prst="ellipse">
            <a:avLst/>
          </a:prstGeom>
          <a:solidFill>
            <a:srgbClr val="FF7A3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58952" y="599846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Obstacle avoidance with slack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ROBOTTRAJECTORYOPT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1114013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PROBLEM FORMULATION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Model — Kinematic Bicycle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85855" y="438912"/>
            <a:ext cx="502920" cy="502920"/>
          </a:xfrm>
          <a:prstGeom prst="ellipse">
            <a:avLst/>
          </a:prstGeom>
          <a:solidFill>
            <a:srgbClr val="1C2A47"/>
          </a:solidFill>
          <a:ln w="12700">
            <a:solidFill>
              <a:srgbClr val="2B3D5F"/>
            </a:solidFill>
            <a:prstDash val="solid"/>
          </a:ln>
        </p:spPr>
      </p:sp>
      <p:pic>
        <p:nvPicPr>
          <p:cNvPr id="5" name="Image 0" descr="/home/claude/icons/navigation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1235" y="504292"/>
            <a:ext cx="372161" cy="37216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508760"/>
            <a:ext cx="5394960" cy="3794760"/>
          </a:xfrm>
          <a:prstGeom prst="roundRect">
            <a:avLst>
              <a:gd name="adj" fmla="val 2169"/>
            </a:avLst>
          </a:prstGeom>
          <a:solidFill>
            <a:srgbClr val="1C2A47"/>
          </a:solidFill>
          <a:ln w="12700">
            <a:solidFill>
              <a:srgbClr val="2B3D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43000" y="1874520"/>
            <a:ext cx="0" cy="2788920"/>
          </a:xfrm>
          <a:prstGeom prst="line">
            <a:avLst/>
          </a:prstGeom>
          <a:noFill/>
          <a:ln w="15875">
            <a:solidFill>
              <a:srgbClr val="5A7392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1143000" y="4663440"/>
            <a:ext cx="4114800" cy="0"/>
          </a:xfrm>
          <a:prstGeom prst="line">
            <a:avLst/>
          </a:prstGeom>
          <a:noFill/>
          <a:ln w="15875">
            <a:solidFill>
              <a:srgbClr val="5A7392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822960" y="18013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120640" y="46177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 rot="-1320000">
            <a:off x="2606040" y="3200400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0B121F"/>
          </a:solidFill>
          <a:ln w="25400">
            <a:solidFill>
              <a:srgbClr val="2EC4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91840" y="3483864"/>
            <a:ext cx="1143000" cy="-475488"/>
          </a:xfrm>
          <a:prstGeom prst="line">
            <a:avLst/>
          </a:prstGeom>
          <a:noFill/>
          <a:ln w="28575">
            <a:solidFill>
              <a:srgbClr val="FF7A3D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4023360" y="2606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  (heading)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4297680" y="29992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977640" y="3483864"/>
            <a:ext cx="502920" cy="-292608"/>
          </a:xfrm>
          <a:prstGeom prst="line">
            <a:avLst/>
          </a:prstGeom>
          <a:noFill/>
          <a:ln w="25400">
            <a:solidFill>
              <a:srgbClr val="2EC4D8"/>
            </a:solidFill>
            <a:prstDash val="dash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4023360" y="34564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(steering)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3108960" y="3584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Lf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4800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s = (x, y, ψ, v)   controls u = (δ, a)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217920" y="1508760"/>
            <a:ext cx="5470855" cy="1783080"/>
          </a:xfrm>
          <a:prstGeom prst="roundRect">
            <a:avLst>
              <a:gd name="adj" fmla="val 4615"/>
            </a:avLst>
          </a:prstGeom>
          <a:solidFill>
            <a:srgbClr val="0B121F"/>
          </a:solidFill>
          <a:ln w="12700">
            <a:solidFill>
              <a:srgbClr val="2B3D5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19088" y="1655064"/>
            <a:ext cx="5068519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x[t+1] = x[t] + v[t]·cos(ψ[t])·Δt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y[t+1] = y[t] + v[t]·sin(ψ[t])·Δt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ψ[t+1] = ψ[t] + (v[t]/Lf)·δ[t]·Δt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v[t+1] = v[t] + a[t]·Δt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6217920" y="3456432"/>
            <a:ext cx="5470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Fixed-step discretization of the continuous bicycle model. Lf is the effective wheelbase (center-of-mass to front axle).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17920" y="4434840"/>
            <a:ext cx="5470855" cy="457200"/>
          </a:xfrm>
          <a:prstGeom prst="roundRect">
            <a:avLst>
              <a:gd name="adj" fmla="val 50000"/>
            </a:avLst>
          </a:prstGeom>
          <a:solidFill>
            <a:srgbClr val="1C2A4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217920" y="4434840"/>
            <a:ext cx="5470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Δt = 0.1 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217920" y="4983480"/>
            <a:ext cx="5470855" cy="457200"/>
          </a:xfrm>
          <a:prstGeom prst="roundRect">
            <a:avLst>
              <a:gd name="adj" fmla="val 50000"/>
            </a:avLst>
          </a:prstGeom>
          <a:solidFill>
            <a:srgbClr val="1C2A4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217920" y="4983480"/>
            <a:ext cx="5470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Lf = 0.5 m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217920" y="5532120"/>
            <a:ext cx="5470855" cy="457200"/>
          </a:xfrm>
          <a:prstGeom prst="roundRect">
            <a:avLst>
              <a:gd name="adj" fmla="val 50000"/>
            </a:avLst>
          </a:prstGeom>
          <a:solidFill>
            <a:srgbClr val="1C2A4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217920" y="5532120"/>
            <a:ext cx="5470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20 steps  (2.0 s look-ahead)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50292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ROBOTTRAJECTORYOPT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3809848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FORMULATION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1114013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PROBLEM FORMULATION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Vector &amp; Cost Function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85855" y="438912"/>
            <a:ext cx="502920" cy="502920"/>
          </a:xfrm>
          <a:prstGeom prst="ellipse">
            <a:avLst/>
          </a:prstGeom>
          <a:solidFill>
            <a:srgbClr val="1C2A47"/>
          </a:solidFill>
          <a:ln w="12700">
            <a:solidFill>
              <a:srgbClr val="2B3D5F"/>
            </a:solidFill>
            <a:prstDash val="solid"/>
          </a:ln>
        </p:spPr>
      </p:sp>
      <p:pic>
        <p:nvPicPr>
          <p:cNvPr id="5" name="Image 0" descr="/home/claude/icons/layers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1235" y="504292"/>
            <a:ext cx="372161" cy="37216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0"/>
            <a:ext cx="5663724" cy="502920"/>
          </a:xfrm>
          <a:prstGeom prst="rect">
            <a:avLst/>
          </a:prstGeom>
          <a:solidFill>
            <a:srgbClr val="2EC4D8"/>
          </a:solidFill>
          <a:ln w="19050">
            <a:solidFill>
              <a:srgbClr val="0E162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66644" y="1645920"/>
            <a:ext cx="2690269" cy="502920"/>
          </a:xfrm>
          <a:prstGeom prst="rect">
            <a:avLst/>
          </a:prstGeom>
          <a:solidFill>
            <a:srgbClr val="FF7A3D"/>
          </a:solidFill>
          <a:ln w="19050">
            <a:solidFill>
              <a:srgbClr val="0E162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856913" y="1645920"/>
            <a:ext cx="2831862" cy="502920"/>
          </a:xfrm>
          <a:prstGeom prst="rect">
            <a:avLst/>
          </a:prstGeom>
          <a:solidFill>
            <a:srgbClr val="5A7392"/>
          </a:solidFill>
          <a:ln w="19050">
            <a:solidFill>
              <a:srgbClr val="0E162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2920" y="2221992"/>
            <a:ext cx="5663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endParaRPr lang="en-US" sz="15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8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STATES  (x, y, ψ, v)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166644" y="2221992"/>
            <a:ext cx="26902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15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8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CONTROLS  (δ, a)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856913" y="2221992"/>
            <a:ext cx="28318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5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8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SLACK  (obstacle σ)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271576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 =  [ x₀…x₁₉ | y₀…y₁₉ | ψ₀…ψ₁₉ | v₀…v₁₉ | δ₀…δ₁₈ | a₀…a₁₈ | σ₀…σ₃₉ ]     →     158 decision variables total  (N = 20)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3364992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7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QUADRATIC COST  —  diagonal Hessian, minimized every SQP iteration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657600"/>
          <a:ext cx="1118585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51560"/>
                <a:gridCol w="9037015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C4D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Symbol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C4D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Value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C4D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Role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— x is largely a consequence of speed, not directly steered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— dominant term for lateral path tracking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1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qψ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— keeps heading aligned with the path tangent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— lets the solver trade velocity freely to aid tracking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1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rδ , 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Penalize aggressive steering / acceleration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w_slack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8000.0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strong — makes obstacle-avoidance slack expensive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1F"/>
                    </a:solidFill>
                  </a:tcPr>
                </a:tc>
              </a:tr>
            </a:tbl>
          </a:graphicData>
        </a:graphic>
      </p:graphicFrame>
      <p:sp>
        <p:nvSpPr>
          <p:cNvPr id="15" name="Text 11"/>
          <p:cNvSpPr txBox="1"/>
          <p:nvPr/>
        </p:nvSpPr>
        <p:spPr>
          <a:xfrm>
            <a:off x="502920" y="601675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 gap between qy, qψ and qv is a documented tuning decision: a high velocity weight made the solver hold speed constant instead of tracking the path, so weight was shifted toward lateral / heading accuracy.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50292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ROBOTTRAJECTORYOPT</a:t>
            </a:r>
            <a:endParaRPr lang="en-US" sz="800" dirty="0"/>
          </a:p>
        </p:txBody>
      </p:sp>
      <p:sp>
        <p:nvSpPr>
          <p:cNvPr id="17" name="Text 13"/>
          <p:cNvSpPr txBox="1"/>
          <p:nvPr/>
        </p:nvSpPr>
        <p:spPr>
          <a:xfrm>
            <a:off x="3809848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FORMULATION</a:t>
            </a:r>
            <a:endParaRPr lang="en-US" sz="800" dirty="0"/>
          </a:p>
        </p:txBody>
      </p:sp>
      <p:sp>
        <p:nvSpPr>
          <p:cNvPr id="18" name="Text 14"/>
          <p:cNvSpPr txBox="1"/>
          <p:nvPr/>
        </p:nvSpPr>
        <p:spPr>
          <a:xfrm>
            <a:off x="1114013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PROBLEM FORMULATION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Path — Quintic Polynomials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85855" y="438912"/>
            <a:ext cx="502920" cy="502920"/>
          </a:xfrm>
          <a:prstGeom prst="ellipse">
            <a:avLst/>
          </a:prstGeom>
          <a:solidFill>
            <a:srgbClr val="1C2A47"/>
          </a:solidFill>
          <a:ln w="12700">
            <a:solidFill>
              <a:srgbClr val="2B3D5F"/>
            </a:solidFill>
            <a:prstDash val="solid"/>
          </a:ln>
        </p:spPr>
      </p:sp>
      <p:pic>
        <p:nvPicPr>
          <p:cNvPr id="5" name="Image 0" descr="/home/claude/icons/trendingup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1235" y="504292"/>
            <a:ext cx="372161" cy="37216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554480"/>
            <a:ext cx="5486400" cy="1051560"/>
          </a:xfrm>
          <a:prstGeom prst="roundRect">
            <a:avLst>
              <a:gd name="adj" fmla="val 7826"/>
            </a:avLst>
          </a:prstGeom>
          <a:solidFill>
            <a:srgbClr val="0B121F"/>
          </a:solidFill>
          <a:ln w="12700">
            <a:solidFill>
              <a:srgbClr val="2B3D5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04088" y="1700784"/>
            <a:ext cx="50840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y(x)  =  c0 + c1x + c2x² + c3x³ + c4x⁴ + c5x⁵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y'(x) =  c1 + 2c2x + 3c3x² + 4c4x³ + 5c5x⁴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788920"/>
            <a:ext cx="5486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A quintic (not a cubic) is used so that </a:t>
            </a:r>
            <a:pPr indent="0" marL="0">
              <a:buNone/>
            </a:pPr>
            <a:r>
              <a:rPr lang="en-US" sz="1250" b="1" dirty="0">
                <a:solidFill>
                  <a:srgbClr val="2E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value and slope</a:t>
            </a:r>
            <a:pPr indent="0" marL="0">
              <a:spcAft>
                <a:spcPts val="1300"/>
              </a:spcAft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 be pinned at the start and end of a maneuver.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Choosing y(0)=0, y′(0)=0 matches the reference heading to the vehicle′s initial heading </a:t>
            </a:r>
            <a:pPr indent="0" marL="0">
              <a:buNone/>
            </a:pPr>
            <a:r>
              <a:rPr lang="en-US" sz="1250" dirty="0">
                <a:solidFill>
                  <a:srgbClr val="2E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(ψ₀ = 0)</a:t>
            </a:r>
            <a:pPr indent="0" marL="0">
              <a:spcAft>
                <a:spcPts val="1300"/>
              </a:spcAft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exactly — no instantaneous heading mismatch.</a:t>
            </a:r>
            <a:endParaRPr lang="en-US" sz="1250" dirty="0"/>
          </a:p>
          <a:p>
            <a:pPr indent="0" marL="0">
              <a:spcAft>
                <a:spcPts val="1300"/>
              </a:spcAft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The reference is regenerated fresh from the vehicle′s current position at every step, so the N-step grid always reflects where the vehicle actually is.</a:t>
            </a:r>
            <a:endParaRPr lang="en-US" sz="1250" dirty="0"/>
          </a:p>
          <a:p>
            <a:pPr indent="0" marL="0">
              <a:spcAft>
                <a:spcPts val="1300"/>
              </a:spcAft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Past trackLength, the reference degrades gracefully into a straight-line continuation tangent to the polynomial.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55080" y="1554480"/>
            <a:ext cx="5333695" cy="3246120"/>
          </a:xfrm>
          <a:prstGeom prst="roundRect">
            <a:avLst>
              <a:gd name="adj" fmla="val 2535"/>
            </a:avLst>
          </a:prstGeom>
          <a:solidFill>
            <a:srgbClr val="1C2A47"/>
          </a:solidFill>
          <a:ln w="12700">
            <a:solidFill>
              <a:srgbClr val="2B3D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720840" y="3886200"/>
            <a:ext cx="828392" cy="-77724"/>
          </a:xfrm>
          <a:prstGeom prst="line">
            <a:avLst/>
          </a:prstGeom>
          <a:noFill/>
          <a:ln w="31750">
            <a:solidFill>
              <a:srgbClr val="2EC4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49232" y="3808476"/>
            <a:ext cx="782370" cy="-466344"/>
          </a:xfrm>
          <a:prstGeom prst="line">
            <a:avLst/>
          </a:prstGeom>
          <a:noFill/>
          <a:ln w="31750">
            <a:solidFill>
              <a:srgbClr val="2EC4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331601" y="3342132"/>
            <a:ext cx="690326" cy="-621792"/>
          </a:xfrm>
          <a:prstGeom prst="line">
            <a:avLst/>
          </a:prstGeom>
          <a:noFill/>
          <a:ln w="31750">
            <a:solidFill>
              <a:srgbClr val="2EC4D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021928" y="2720340"/>
            <a:ext cx="690326" cy="-310896"/>
          </a:xfrm>
          <a:prstGeom prst="line">
            <a:avLst/>
          </a:prstGeom>
          <a:noFill/>
          <a:ln w="31750">
            <a:solidFill>
              <a:srgbClr val="2EC4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712254" y="2409444"/>
            <a:ext cx="782370" cy="155448"/>
          </a:xfrm>
          <a:prstGeom prst="line">
            <a:avLst/>
          </a:prstGeom>
          <a:noFill/>
          <a:ln w="31750">
            <a:solidFill>
              <a:srgbClr val="2EC4D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494624" y="2564892"/>
            <a:ext cx="828392" cy="544068"/>
          </a:xfrm>
          <a:prstGeom prst="line">
            <a:avLst/>
          </a:prstGeom>
          <a:noFill/>
          <a:ln w="31750">
            <a:solidFill>
              <a:srgbClr val="2EC4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675120" y="3840480"/>
            <a:ext cx="91440" cy="91440"/>
          </a:xfrm>
          <a:prstGeom prst="ellipse">
            <a:avLst/>
          </a:prstGeom>
          <a:solidFill>
            <a:srgbClr val="FF7A3D"/>
          </a:solidFill>
          <a:ln/>
        </p:spPr>
      </p:sp>
      <p:sp>
        <p:nvSpPr>
          <p:cNvPr id="17" name="Shape 14"/>
          <p:cNvSpPr/>
          <p:nvPr/>
        </p:nvSpPr>
        <p:spPr>
          <a:xfrm>
            <a:off x="11277295" y="3063240"/>
            <a:ext cx="91440" cy="91440"/>
          </a:xfrm>
          <a:prstGeom prst="ellipse">
            <a:avLst/>
          </a:prstGeom>
          <a:solidFill>
            <a:srgbClr val="FF7A3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46520" y="39959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0   (ψ matched)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0408615" y="32004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40 m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629400" y="1737360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quintic S-weave — value &amp; slope pinned at both ends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355080" y="4956048"/>
            <a:ext cx="5333695" cy="530352"/>
          </a:xfrm>
          <a:prstGeom prst="roundRect">
            <a:avLst>
              <a:gd name="adj" fmla="val 50000"/>
            </a:avLst>
          </a:prstGeom>
          <a:solidFill>
            <a:srgbClr val="1C2A4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355080" y="4956048"/>
            <a:ext cx="53336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δ_ff = arctan( Lf·Δψ / (v·Δt) )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355080" y="5577840"/>
            <a:ext cx="5333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Feedforward steering estimate from reference curvature — a good initial guess for the steering variable.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50292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ROBOTTRAJECTORYOPT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3809848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FORMULATION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1114013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PROBLEM FORMULATION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— Equality &amp; Inequality Rows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85855" y="438912"/>
            <a:ext cx="502920" cy="502920"/>
          </a:xfrm>
          <a:prstGeom prst="ellipse">
            <a:avLst/>
          </a:prstGeom>
          <a:solidFill>
            <a:srgbClr val="1C2A47"/>
          </a:solidFill>
          <a:ln w="12700">
            <a:solidFill>
              <a:srgbClr val="2B3D5F"/>
            </a:solidFill>
            <a:prstDash val="solid"/>
          </a:ln>
        </p:spPr>
      </p:sp>
      <p:pic>
        <p:nvPicPr>
          <p:cNvPr id="5" name="Image 0" descr="/home/claude/icons/grid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1235" y="504292"/>
            <a:ext cx="372161" cy="37216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554480"/>
            <a:ext cx="5410048" cy="4480560"/>
          </a:xfrm>
          <a:prstGeom prst="roundRect">
            <a:avLst>
              <a:gd name="adj" fmla="val 1837"/>
            </a:avLst>
          </a:prstGeom>
          <a:solidFill>
            <a:srgbClr val="16223B"/>
          </a:solidFill>
          <a:ln w="12700">
            <a:solidFill>
              <a:srgbClr val="2B3D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77240" y="1810512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EQUALITY — VEHICLE DYNAMICS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12848"/>
            <a:ext cx="486140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2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Re-linearized at every SQP iteration around the current nominal trajectory z̄ — first-order (Jacobian) linearization of the bicycle model.</a:t>
            </a:r>
            <a:endParaRPr lang="en-US" sz="1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2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Produces 4 constraint rows per step t = 0 … N−2, one for each state (x, y, ψ, v).</a:t>
            </a:r>
            <a:endParaRPr lang="en-US" sz="1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2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Plus 4 rows that lock the very first state (x₀, y₀, ψ₀, v₀) to the robot′s true, measured telemetry.</a:t>
            </a:r>
            <a:endParaRPr lang="en-US" sz="1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2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Re-linearizing every iteration is exactly what makes the outer loop an SQP scheme.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410048" cy="4480560"/>
          </a:xfrm>
          <a:prstGeom prst="roundRect">
            <a:avLst>
              <a:gd name="adj" fmla="val 1837"/>
            </a:avLst>
          </a:prstGeom>
          <a:solidFill>
            <a:srgbClr val="16223B"/>
          </a:solidFill>
          <a:ln w="12700">
            <a:solidFill>
              <a:srgbClr val="2B3D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553048" y="1810512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7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INEQUALITY — ACTUATOR &amp; VELOCITY BOUNDS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53048" y="2176272"/>
          <a:ext cx="486140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3809848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EC4D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Bound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EC4D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Constraint form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(steering)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−0.6  ≤  δₜ  ≤  0.6  rad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(accel.)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−3.0  ≤  aₜ  ≤  3.0  m/s²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1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(velocity)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 ≤  vₜ  ≤  3.0  m/s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6553048" y="3886200"/>
            <a:ext cx="486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once per SQP call by MpcInequality::buildBoundRows() and held constant across iterations — a genuine QP row, not a post-hoc clamp.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553048" y="4709160"/>
            <a:ext cx="4861408" cy="502920"/>
          </a:xfrm>
          <a:prstGeom prst="roundRect">
            <a:avLst>
              <a:gd name="adj" fmla="val 16364"/>
            </a:avLst>
          </a:prstGeom>
          <a:solidFill>
            <a:srgbClr val="0B121F"/>
          </a:solidFill>
          <a:ln w="12700">
            <a:solidFill>
              <a:srgbClr val="2B3D5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754216" y="4855464"/>
            <a:ext cx="445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 = (kind &lt;&lt; 24) | (t &lt;&lt; 8) | idx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6553048" y="530352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tag per row — used to match constraints for active-set warm-starting across SQP iterations.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50292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ROBOTTRAJECTORYOPT</a:t>
            </a:r>
            <a:endParaRPr lang="en-US" sz="800" dirty="0"/>
          </a:p>
        </p:txBody>
      </p:sp>
      <p:sp>
        <p:nvSpPr>
          <p:cNvPr id="17" name="Text 13"/>
          <p:cNvSpPr txBox="1"/>
          <p:nvPr/>
        </p:nvSpPr>
        <p:spPr>
          <a:xfrm>
            <a:off x="3809848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FORMULATION</a:t>
            </a:r>
            <a:endParaRPr lang="en-US" sz="800" dirty="0"/>
          </a:p>
        </p:txBody>
      </p:sp>
      <p:sp>
        <p:nvSpPr>
          <p:cNvPr id="18" name="Text 14"/>
          <p:cNvSpPr txBox="1"/>
          <p:nvPr/>
        </p:nvSpPr>
        <p:spPr>
          <a:xfrm>
            <a:off x="1114013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PROBLEM FORMULATION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Obstacle Avoidance — Slack-Relaxed Inequality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85855" y="438912"/>
            <a:ext cx="502920" cy="502920"/>
          </a:xfrm>
          <a:prstGeom prst="ellipse">
            <a:avLst/>
          </a:prstGeom>
          <a:solidFill>
            <a:srgbClr val="1C2A47"/>
          </a:solidFill>
          <a:ln w="12700">
            <a:solidFill>
              <a:srgbClr val="2B3D5F"/>
            </a:solidFill>
            <a:prstDash val="solid"/>
          </a:ln>
        </p:spPr>
      </p:sp>
      <p:pic>
        <p:nvPicPr>
          <p:cNvPr id="5" name="Image 0" descr="/home/claude/icons/alerttriangl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1235" y="504292"/>
            <a:ext cx="372161" cy="37216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1554480"/>
            <a:ext cx="59436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500"/>
              </a:spcAft>
              <a:buNone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Obstacles are circular keep-out zones (x_obs, y_obs, r) with an extra 0.3 m safety margin — effective radius R = r + 0.3.</a:t>
            </a:r>
            <a:endParaRPr lang="en-US" sz="1300" dirty="0"/>
          </a:p>
          <a:p>
            <a:pPr indent="0" marL="0">
              <a:spcAft>
                <a:spcPts val="1500"/>
              </a:spcAft>
              <a:buNone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The nonlinear distance constraint ‖(x,y) − obs‖² ≥ R² is linearized about the nominal predicted position using its gradient.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A per-step slack variable </a:t>
            </a:r>
            <a:pPr indent="0" marL="0">
              <a:buNone/>
            </a:pPr>
            <a:r>
              <a:rPr lang="en-US" sz="1300" b="1" dirty="0">
                <a:solidFill>
                  <a:srgbClr val="2E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≥ 0</a:t>
            </a:r>
            <a:pPr indent="0" marL="0">
              <a:spcAft>
                <a:spcPts val="1500"/>
              </a:spcAft>
              <a:buNone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relaxes the row so the QP always stays feasible, even mid-maneuver.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The heavy slack weight </a:t>
            </a:r>
            <a:pPr indent="0" marL="0">
              <a:buNone/>
            </a:pPr>
            <a:r>
              <a:rPr lang="en-US" sz="1300" b="1" dirty="0">
                <a:solidFill>
                  <a:srgbClr val="F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w_slack = 8000</a:t>
            </a:r>
            <a:pPr indent="0" marL="0">
              <a:spcAft>
                <a:spcPts val="1500"/>
              </a:spcAft>
              <a:buNone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cost strongly discourages the trajectory from lingering near an obstacle.</a:t>
            </a:r>
            <a:endParaRPr lang="en-US" sz="1300" dirty="0"/>
          </a:p>
          <a:p>
            <a:pPr indent="0" marL="0">
              <a:spcAft>
                <a:spcPts val="1500"/>
              </a:spcAft>
              <a:buNone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Far from any obstacle (beyond 2R) the slack collapses to zero and the row becomes inactive.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766560" y="1554480"/>
            <a:ext cx="4922215" cy="4480560"/>
          </a:xfrm>
          <a:prstGeom prst="roundRect">
            <a:avLst>
              <a:gd name="adj" fmla="val 1837"/>
            </a:avLst>
          </a:prstGeom>
          <a:solidFill>
            <a:srgbClr val="1C2A47"/>
          </a:solidFill>
          <a:ln w="12700">
            <a:solidFill>
              <a:srgbClr val="2B3D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176108" y="2468880"/>
            <a:ext cx="2103120" cy="2103120"/>
          </a:xfrm>
          <a:prstGeom prst="ellipse">
            <a:avLst/>
          </a:prstGeom>
          <a:ln w="15875">
            <a:solidFill>
              <a:srgbClr val="8FA8C4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8450428" y="2743200"/>
            <a:ext cx="1554480" cy="1554480"/>
          </a:xfrm>
          <a:prstGeom prst="ellipse">
            <a:avLst/>
          </a:prstGeom>
          <a:solidFill>
            <a:srgbClr val="E8637A">
              <a:alpha val="25000"/>
            </a:srgbClr>
          </a:solidFill>
          <a:ln w="25400">
            <a:solidFill>
              <a:srgbClr val="E8637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79028" y="3383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obstacle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0864444" y="2231136"/>
            <a:ext cx="109728" cy="109728"/>
          </a:xfrm>
          <a:prstGeom prst="ellipse">
            <a:avLst/>
          </a:prstGeom>
          <a:solidFill>
            <a:srgbClr val="2EC4D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827868" y="1956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 (x, y)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9227668" y="3520440"/>
            <a:ext cx="1691640" cy="-1234440"/>
          </a:xfrm>
          <a:prstGeom prst="line">
            <a:avLst/>
          </a:prstGeom>
          <a:noFill/>
          <a:ln w="22225">
            <a:solidFill>
              <a:srgbClr val="FF7A3D"/>
            </a:solidFill>
            <a:prstDash val="dash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9988906" y="287350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∇ (gradient)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8679028" y="21488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r + 0.3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040880" y="5257800"/>
            <a:ext cx="4373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linearized keep-out boundary — a tangent-plane cut through the true circle at the current nominal position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ROBOTTRAJECTORYOPT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3809848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FORMULATION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1114013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ircuit_pattern.png">    </p:cNvPr>
          <p:cNvPicPr>
            <a:picLocks noChangeAspect="1"/>
          </p:cNvPicPr>
          <p:nvPr/>
        </p:nvPicPr>
        <p:blipFill>
          <a:blip r:embed="rId1">
            <a:alphaModFix amt="11000"/>
          </a:blip>
          <a:stretch>
            <a:fillRect/>
          </a:stretch>
        </p:blipFill>
        <p:spPr>
          <a:xfrm flipH="1">
            <a:off x="-2743200" y="1828800"/>
            <a:ext cx="82296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071055" y="0"/>
            <a:ext cx="5120640" cy="6858000"/>
          </a:xfrm>
          <a:prstGeom prst="roundRect">
            <a:avLst/>
          </a:prstGeom>
          <a:solidFill>
            <a:srgbClr val="16223B">
              <a:alpha val="45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11480" y="137160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0" b="1" dirty="0">
                <a:solidFill>
                  <a:srgbClr val="1C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5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342900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Solving the QP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422452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E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Active-Set solver wrapped in an outer SQP loop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30352" y="4919472"/>
            <a:ext cx="100584" cy="100584"/>
          </a:xfrm>
          <a:prstGeom prst="ellipse">
            <a:avLst/>
          </a:prstGeom>
          <a:solidFill>
            <a:srgbClr val="FF7A3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58952" y="477316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QP subproblem &amp; Active-Set solver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30352" y="5225796"/>
            <a:ext cx="100584" cy="100584"/>
          </a:xfrm>
          <a:prstGeom prst="ellipse">
            <a:avLst/>
          </a:prstGeom>
          <a:solidFill>
            <a:srgbClr val="FF7A3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58952" y="507949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SQP outer loop &amp; damped convergence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30352" y="5532120"/>
            <a:ext cx="100584" cy="100584"/>
          </a:xfrm>
          <a:prstGeom prst="ellipse">
            <a:avLst/>
          </a:prstGeom>
          <a:solidFill>
            <a:srgbClr val="FF7A3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58952" y="538581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Robustness mechanisms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ROBOTTRAJECTORYOPT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1114013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SOLVING THE QP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Active-Set QP Solver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85855" y="438912"/>
            <a:ext cx="502920" cy="502920"/>
          </a:xfrm>
          <a:prstGeom prst="ellipse">
            <a:avLst/>
          </a:prstGeom>
          <a:solidFill>
            <a:srgbClr val="1C2A47"/>
          </a:solidFill>
          <a:ln w="12700">
            <a:solidFill>
              <a:srgbClr val="2B3D5F"/>
            </a:solidFill>
            <a:prstDash val="solid"/>
          </a:ln>
        </p:spPr>
      </p:sp>
      <p:pic>
        <p:nvPicPr>
          <p:cNvPr id="5" name="Image 0" descr="/home/claude/icons/cpu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1235" y="504292"/>
            <a:ext cx="372161" cy="37216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536192"/>
            <a:ext cx="11185855" cy="1143000"/>
          </a:xfrm>
          <a:prstGeom prst="roundRect">
            <a:avLst>
              <a:gd name="adj" fmla="val 7200"/>
            </a:avLst>
          </a:prstGeom>
          <a:solidFill>
            <a:srgbClr val="0B121F"/>
          </a:solidFill>
          <a:ln w="12700">
            <a:solidFill>
              <a:srgbClr val="2B3D5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04088" y="1682496"/>
            <a:ext cx="10783519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min_z  ½(z − z_ref)ᵀ H (z − z_ref)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s.t.   A(z̄) z = b(z̄)          [dynamics + init state]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C_ineq z ≥ d_ineq       [bounds + obstacle rows]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02920" y="2971800"/>
            <a:ext cx="2659304" cy="1417320"/>
          </a:xfrm>
          <a:prstGeom prst="roundRect">
            <a:avLst>
              <a:gd name="adj" fmla="val 5806"/>
            </a:avLst>
          </a:prstGeom>
          <a:solidFill>
            <a:srgbClr val="16223B"/>
          </a:solidFill>
          <a:ln w="12700">
            <a:solidFill>
              <a:srgbClr val="2B3D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04088" y="3172968"/>
            <a:ext cx="365760" cy="365760"/>
          </a:xfrm>
          <a:prstGeom prst="ellipse">
            <a:avLst/>
          </a:prstGeom>
          <a:solidFill>
            <a:srgbClr val="1C2A47"/>
          </a:solidFill>
          <a:ln w="15875">
            <a:solidFill>
              <a:srgbClr val="2EC4D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04088" y="3163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04088" y="3630168"/>
            <a:ext cx="225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 working set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04088" y="3913632"/>
            <a:ext cx="2256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warm-start from previous solve, matched by tag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345104" y="2971800"/>
            <a:ext cx="2659304" cy="1417320"/>
          </a:xfrm>
          <a:prstGeom prst="roundRect">
            <a:avLst>
              <a:gd name="adj" fmla="val 5806"/>
            </a:avLst>
          </a:prstGeom>
          <a:solidFill>
            <a:srgbClr val="16223B"/>
          </a:solidFill>
          <a:ln w="12700">
            <a:solidFill>
              <a:srgbClr val="2B3D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546272" y="3172968"/>
            <a:ext cx="365760" cy="365760"/>
          </a:xfrm>
          <a:prstGeom prst="ellipse">
            <a:avLst/>
          </a:prstGeom>
          <a:solidFill>
            <a:srgbClr val="1C2A47"/>
          </a:solidFill>
          <a:ln w="15875">
            <a:solidFill>
              <a:srgbClr val="2EC4D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46272" y="3163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546272" y="3630168"/>
            <a:ext cx="225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 sparse KKT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546272" y="3913632"/>
            <a:ext cx="2256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[[H, Aᵀeq],[Aeq, 0]] with active inequalities folded in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187288" y="2971800"/>
            <a:ext cx="2659304" cy="1417320"/>
          </a:xfrm>
          <a:prstGeom prst="roundRect">
            <a:avLst>
              <a:gd name="adj" fmla="val 5806"/>
            </a:avLst>
          </a:prstGeom>
          <a:solidFill>
            <a:srgbClr val="16223B"/>
          </a:solidFill>
          <a:ln w="12700">
            <a:solidFill>
              <a:srgbClr val="2B3D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388456" y="3172968"/>
            <a:ext cx="365760" cy="365760"/>
          </a:xfrm>
          <a:prstGeom prst="ellipse">
            <a:avLst/>
          </a:prstGeom>
          <a:solidFill>
            <a:srgbClr val="1C2A47"/>
          </a:solidFill>
          <a:ln w="15875">
            <a:solidFill>
              <a:srgbClr val="2EC4D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88456" y="3163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388456" y="3630168"/>
            <a:ext cx="225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Factorize &amp; solve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388456" y="3913632"/>
            <a:ext cx="2256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indefinite LDLᵀ + Tikhonov reg. ε=1e-8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9029471" y="2971800"/>
            <a:ext cx="2659304" cy="1417320"/>
          </a:xfrm>
          <a:prstGeom prst="roundRect">
            <a:avLst>
              <a:gd name="adj" fmla="val 5806"/>
            </a:avLst>
          </a:prstGeom>
          <a:solidFill>
            <a:srgbClr val="16223B"/>
          </a:solidFill>
          <a:ln w="12700">
            <a:solidFill>
              <a:srgbClr val="2B3D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9230639" y="3172968"/>
            <a:ext cx="365760" cy="365760"/>
          </a:xfrm>
          <a:prstGeom prst="ellipse">
            <a:avLst/>
          </a:prstGeom>
          <a:solidFill>
            <a:srgbClr val="1C2A47"/>
          </a:solidFill>
          <a:ln w="15875">
            <a:solidFill>
              <a:srgbClr val="2EC4D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230639" y="3163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9230639" y="3630168"/>
            <a:ext cx="225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check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9230639" y="3913632"/>
            <a:ext cx="2256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constraint found → add to working set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02920" y="4572000"/>
            <a:ext cx="2659304" cy="1417320"/>
          </a:xfrm>
          <a:prstGeom prst="roundRect">
            <a:avLst>
              <a:gd name="adj" fmla="val 5806"/>
            </a:avLst>
          </a:prstGeom>
          <a:solidFill>
            <a:srgbClr val="16223B"/>
          </a:solidFill>
          <a:ln w="12700">
            <a:solidFill>
              <a:srgbClr val="2B3D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04088" y="4773168"/>
            <a:ext cx="365760" cy="365760"/>
          </a:xfrm>
          <a:prstGeom prst="ellipse">
            <a:avLst/>
          </a:prstGeom>
          <a:solidFill>
            <a:srgbClr val="1C2A47"/>
          </a:solidFill>
          <a:ln w="15875">
            <a:solidFill>
              <a:srgbClr val="2EC4D8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04088" y="4764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704088" y="5230368"/>
            <a:ext cx="225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Optimality check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704088" y="5513832"/>
            <a:ext cx="2256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&lt; −1e-8 → drop the redundant constraint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3345104" y="4572000"/>
            <a:ext cx="2659304" cy="1417320"/>
          </a:xfrm>
          <a:prstGeom prst="roundRect">
            <a:avLst>
              <a:gd name="adj" fmla="val 5806"/>
            </a:avLst>
          </a:prstGeom>
          <a:solidFill>
            <a:srgbClr val="16223B"/>
          </a:solidFill>
          <a:ln w="12700">
            <a:solidFill>
              <a:srgbClr val="2B3D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3546272" y="4773168"/>
            <a:ext cx="365760" cy="365760"/>
          </a:xfrm>
          <a:prstGeom prst="ellipse">
            <a:avLst/>
          </a:prstGeom>
          <a:solidFill>
            <a:srgbClr val="1C2A47"/>
          </a:solidFill>
          <a:ln w="15875">
            <a:solidFill>
              <a:srgbClr val="2EC4D8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546272" y="4764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3546272" y="5230368"/>
            <a:ext cx="225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Post-hoc clamp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3546272" y="5513832"/>
            <a:ext cx="2256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net — rarely fires once QP rows are correct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6187288" y="4572000"/>
            <a:ext cx="2659304" cy="1417320"/>
          </a:xfrm>
          <a:prstGeom prst="roundRect">
            <a:avLst>
              <a:gd name="adj" fmla="val 5806"/>
            </a:avLst>
          </a:prstGeom>
          <a:solidFill>
            <a:srgbClr val="16223B"/>
          </a:solidFill>
          <a:ln w="12700">
            <a:solidFill>
              <a:srgbClr val="2B3D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388456" y="4773168"/>
            <a:ext cx="365760" cy="365760"/>
          </a:xfrm>
          <a:prstGeom prst="ellipse">
            <a:avLst/>
          </a:prstGeom>
          <a:solidFill>
            <a:srgbClr val="1C2A47"/>
          </a:solidFill>
          <a:ln w="15875">
            <a:solidFill>
              <a:srgbClr val="2EC4D8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388456" y="4764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6388456" y="5230368"/>
            <a:ext cx="225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6388456" y="5513832"/>
            <a:ext cx="2256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blocking row, all λ ≥ 0, or maxActiveSetIter = 20</a:t>
            </a:r>
            <a:endParaRPr lang="en-US" sz="950" dirty="0"/>
          </a:p>
        </p:txBody>
      </p:sp>
      <p:sp>
        <p:nvSpPr>
          <p:cNvPr id="43" name="Text 40"/>
          <p:cNvSpPr txBox="1"/>
          <p:nvPr/>
        </p:nvSpPr>
        <p:spPr>
          <a:xfrm>
            <a:off x="502920" y="621792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Duplicate-row detection prevents two near-identical coefficient vectors (within 1e-12) from entering the working set together.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50292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ROBOTTRAJECTORYOPT</a:t>
            </a:r>
            <a:endParaRPr lang="en-US" sz="800" dirty="0"/>
          </a:p>
        </p:txBody>
      </p:sp>
      <p:sp>
        <p:nvSpPr>
          <p:cNvPr id="45" name="Text 42"/>
          <p:cNvSpPr txBox="1"/>
          <p:nvPr/>
        </p:nvSpPr>
        <p:spPr>
          <a:xfrm>
            <a:off x="3809848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SOLVING THE QP</a:t>
            </a:r>
            <a:endParaRPr lang="en-US" sz="800" dirty="0"/>
          </a:p>
        </p:txBody>
      </p:sp>
      <p:sp>
        <p:nvSpPr>
          <p:cNvPr id="46" name="Text 43"/>
          <p:cNvSpPr txBox="1"/>
          <p:nvPr/>
        </p:nvSpPr>
        <p:spPr>
          <a:xfrm>
            <a:off x="1114013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SOLVING THE QP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SQP — Sequential Quadratic Programming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85855" y="438912"/>
            <a:ext cx="502920" cy="502920"/>
          </a:xfrm>
          <a:prstGeom prst="ellipse">
            <a:avLst/>
          </a:prstGeom>
          <a:solidFill>
            <a:srgbClr val="1C2A47"/>
          </a:solidFill>
          <a:ln w="12700">
            <a:solidFill>
              <a:srgbClr val="2B3D5F"/>
            </a:solidFill>
            <a:prstDash val="solid"/>
          </a:ln>
        </p:spPr>
      </p:sp>
      <p:pic>
        <p:nvPicPr>
          <p:cNvPr id="5" name="Image 0" descr="/home/claude/icons/refreshcw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1235" y="504292"/>
            <a:ext cx="372161" cy="37216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" y="1691640"/>
            <a:ext cx="0" cy="4160520"/>
          </a:xfrm>
          <a:prstGeom prst="line">
            <a:avLst/>
          </a:prstGeom>
          <a:noFill/>
          <a:ln w="15875">
            <a:solidFill>
              <a:srgbClr val="2B3D5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572768"/>
            <a:ext cx="310896" cy="310896"/>
          </a:xfrm>
          <a:prstGeom prst="ellipse">
            <a:avLst/>
          </a:prstGeom>
          <a:solidFill>
            <a:srgbClr val="1C2A47"/>
          </a:solidFill>
          <a:ln w="15875">
            <a:solidFill>
              <a:srgbClr val="2EC4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" y="15681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41832" y="149047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reference trajectory  </a:t>
            </a:r>
            <a:pPr indent="0" marL="0">
              <a:buNone/>
            </a:pPr>
            <a:r>
              <a:rPr lang="en-US" sz="115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fresh quintic from vehicle′s current position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02920" y="2098548"/>
            <a:ext cx="310896" cy="310896"/>
          </a:xfrm>
          <a:prstGeom prst="ellipse">
            <a:avLst/>
          </a:prstGeom>
          <a:solidFill>
            <a:srgbClr val="1C2A47"/>
          </a:solidFill>
          <a:ln w="15875">
            <a:solidFill>
              <a:srgbClr val="2EC4D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2920" y="2093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41832" y="201625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Linearize dynamics at z̄  </a:t>
            </a:r>
            <a:pPr indent="0" marL="0">
              <a:buNone/>
            </a:pPr>
            <a:r>
              <a:rPr lang="en-US" sz="115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produces A, b for this iteration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2920" y="2624328"/>
            <a:ext cx="310896" cy="310896"/>
          </a:xfrm>
          <a:prstGeom prst="ellipse">
            <a:avLst/>
          </a:prstGeom>
          <a:solidFill>
            <a:srgbClr val="1C2A47"/>
          </a:solidFill>
          <a:ln w="15875">
            <a:solidFill>
              <a:srgbClr val="2EC4D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2920" y="26197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41832" y="254203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obstacle inequality rows  </a:t>
            </a:r>
            <a:pPr indent="0" marL="0">
              <a:buNone/>
            </a:pPr>
            <a:r>
              <a:rPr lang="en-US" sz="115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re-linearized around the current nominal path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02920" y="3150108"/>
            <a:ext cx="310896" cy="310896"/>
          </a:xfrm>
          <a:prstGeom prst="ellipse">
            <a:avLst/>
          </a:prstGeom>
          <a:solidFill>
            <a:srgbClr val="1C2A47"/>
          </a:solidFill>
          <a:ln w="15875">
            <a:solidFill>
              <a:srgbClr val="2EC4D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41832" y="306781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with bound rows  </a:t>
            </a:r>
            <a:pPr indent="0" marL="0">
              <a:buNone/>
            </a:pPr>
            <a:r>
              <a:rPr lang="en-US" sz="115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constant across iterations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02920" y="3675888"/>
            <a:ext cx="310896" cy="310896"/>
          </a:xfrm>
          <a:prstGeom prst="ellipse">
            <a:avLst/>
          </a:prstGeom>
          <a:solidFill>
            <a:srgbClr val="1C2A47"/>
          </a:solidFill>
          <a:ln w="15875">
            <a:solidFill>
              <a:srgbClr val="2EC4D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02920" y="36713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41832" y="359359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the Active-Set QP  </a:t>
            </a:r>
            <a:pPr indent="0" marL="0">
              <a:buNone/>
            </a:pPr>
            <a:r>
              <a:rPr lang="en-US" sz="115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see previous slide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02920" y="4201668"/>
            <a:ext cx="310896" cy="310896"/>
          </a:xfrm>
          <a:prstGeom prst="ellipse">
            <a:avLst/>
          </a:prstGeom>
          <a:solidFill>
            <a:srgbClr val="1C2A47"/>
          </a:solidFill>
          <a:ln w="15875">
            <a:solidFill>
              <a:srgbClr val="2EC4D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2920" y="4197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41832" y="411937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 the step  </a:t>
            </a:r>
            <a:pPr indent="0" marL="0">
              <a:buNone/>
            </a:pPr>
            <a:r>
              <a:rPr lang="en-US" sz="115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z ← z + α·(z_new − z),  α = 0.12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02920" y="4727448"/>
            <a:ext cx="310896" cy="310896"/>
          </a:xfrm>
          <a:prstGeom prst="ellipse">
            <a:avLst/>
          </a:prstGeom>
          <a:solidFill>
            <a:srgbClr val="1C2A47"/>
          </a:solidFill>
          <a:ln w="15875">
            <a:solidFill>
              <a:srgbClr val="2EC4D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02920" y="47228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41832" y="464515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convergence  </a:t>
            </a:r>
            <a:pPr indent="0" marL="0">
              <a:buNone/>
            </a:pPr>
            <a:r>
              <a:rPr lang="en-US" sz="115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maxᵢ |z_new,ᵢ − zᵢ| &lt; tol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02920" y="5253228"/>
            <a:ext cx="310896" cy="310896"/>
          </a:xfrm>
          <a:prstGeom prst="ellipse">
            <a:avLst/>
          </a:prstGeom>
          <a:solidFill>
            <a:srgbClr val="1C2A47"/>
          </a:solidFill>
          <a:ln w="15875">
            <a:solidFill>
              <a:srgbClr val="2EC4D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02920" y="5248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41832" y="517093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best solution  </a:t>
            </a:r>
            <a:pPr indent="0" marL="0">
              <a:buNone/>
            </a:pPr>
            <a:r>
              <a:rPr lang="en-US" sz="115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for rollback if the iteration budget is hit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7498080" y="1600200"/>
            <a:ext cx="4190695" cy="502920"/>
          </a:xfrm>
          <a:prstGeom prst="roundRect">
            <a:avLst>
              <a:gd name="adj" fmla="val 50000"/>
            </a:avLst>
          </a:prstGeom>
          <a:solidFill>
            <a:srgbClr val="1C2A4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498080" y="1600200"/>
            <a:ext cx="4190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tol = 2 × 10⁻³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7498080" y="2212848"/>
            <a:ext cx="4190695" cy="502920"/>
          </a:xfrm>
          <a:prstGeom prst="roundRect">
            <a:avLst>
              <a:gd name="adj" fmla="val 50000"/>
            </a:avLst>
          </a:prstGeom>
          <a:solidFill>
            <a:srgbClr val="1C2A4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498080" y="2212848"/>
            <a:ext cx="4190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iterations = 60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7498080" y="2825496"/>
            <a:ext cx="4190695" cy="502920"/>
          </a:xfrm>
          <a:prstGeom prst="roundRect">
            <a:avLst>
              <a:gd name="adj" fmla="val 50000"/>
            </a:avLst>
          </a:prstGeom>
          <a:solidFill>
            <a:srgbClr val="1C2A4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498080" y="2825496"/>
            <a:ext cx="4190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 (damping) = 0.12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7498080" y="3520440"/>
            <a:ext cx="4190695" cy="2286000"/>
          </a:xfrm>
          <a:prstGeom prst="roundRect">
            <a:avLst>
              <a:gd name="adj" fmla="val 3600"/>
            </a:avLst>
          </a:prstGeom>
          <a:solidFill>
            <a:srgbClr val="16223B"/>
          </a:solidFill>
          <a:ln w="12700">
            <a:solidFill>
              <a:srgbClr val="2B3D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8" name="Text 35"/>
          <p:cNvSpPr txBox="1"/>
          <p:nvPr/>
        </p:nvSpPr>
        <p:spPr>
          <a:xfrm>
            <a:off x="7726680" y="3703320"/>
            <a:ext cx="3733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ED5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ROLLBACK-SAFE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7726680" y="4041648"/>
            <a:ext cx="373349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iteration limit is reached before max|Δz| &lt; tol, the solver rolls back to the iterate with the smallest observed max|Δz| and returns that as a stable, if sub-converged, result — never a diverging one.</a:t>
            </a:r>
            <a:endParaRPr lang="en-US" sz="1150" dirty="0"/>
          </a:p>
        </p:txBody>
      </p:sp>
      <p:sp>
        <p:nvSpPr>
          <p:cNvPr id="40" name="Text 37"/>
          <p:cNvSpPr txBox="1"/>
          <p:nvPr/>
        </p:nvSpPr>
        <p:spPr>
          <a:xfrm>
            <a:off x="50292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ROBOTTRAJECTORYOPT</a:t>
            </a:r>
            <a:endParaRPr lang="en-US" sz="800" dirty="0"/>
          </a:p>
        </p:txBody>
      </p:sp>
      <p:sp>
        <p:nvSpPr>
          <p:cNvPr id="41" name="Text 38"/>
          <p:cNvSpPr txBox="1"/>
          <p:nvPr/>
        </p:nvSpPr>
        <p:spPr>
          <a:xfrm>
            <a:off x="3809848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SOLVING THE QP</a:t>
            </a:r>
            <a:endParaRPr lang="en-US" sz="800" dirty="0"/>
          </a:p>
        </p:txBody>
      </p:sp>
      <p:sp>
        <p:nvSpPr>
          <p:cNvPr id="42" name="Text 39"/>
          <p:cNvSpPr txBox="1"/>
          <p:nvPr/>
        </p:nvSpPr>
        <p:spPr>
          <a:xfrm>
            <a:off x="1114013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SOLVING THE QP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 Mechanisms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85855" y="438912"/>
            <a:ext cx="502920" cy="502920"/>
          </a:xfrm>
          <a:prstGeom prst="ellipse">
            <a:avLst/>
          </a:prstGeom>
          <a:solidFill>
            <a:srgbClr val="1C2A47"/>
          </a:solidFill>
          <a:ln w="12700">
            <a:solidFill>
              <a:srgbClr val="2B3D5F"/>
            </a:solidFill>
            <a:prstDash val="solid"/>
          </a:ln>
        </p:spPr>
      </p:sp>
      <p:pic>
        <p:nvPicPr>
          <p:cNvPr id="5" name="Image 0" descr="/home/claude/icons/shield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1235" y="504292"/>
            <a:ext cx="372161" cy="37216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00200"/>
            <a:ext cx="3606698" cy="1965960"/>
          </a:xfrm>
          <a:prstGeom prst="roundRect">
            <a:avLst>
              <a:gd name="adj" fmla="val 4186"/>
            </a:avLst>
          </a:prstGeom>
          <a:solidFill>
            <a:srgbClr val="16223B"/>
          </a:solidFill>
          <a:ln w="12700">
            <a:solidFill>
              <a:srgbClr val="2B3D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1C2A47"/>
          </a:solidFill>
          <a:ln w="12700">
            <a:solidFill>
              <a:srgbClr val="2B3D5F"/>
            </a:solidFill>
            <a:prstDash val="solid"/>
          </a:ln>
        </p:spPr>
      </p:sp>
      <p:pic>
        <p:nvPicPr>
          <p:cNvPr id="8" name="Image 1" descr="/home/claude/icons/refreshcw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1888236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31520" y="2423160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Warm-Start t=0 Snap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2880360"/>
            <a:ext cx="31494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state snapped to true vehicle telemetry before every solve — prevents drift.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292498" y="1600200"/>
            <a:ext cx="3606698" cy="1965960"/>
          </a:xfrm>
          <a:prstGeom prst="roundRect">
            <a:avLst>
              <a:gd name="adj" fmla="val 4186"/>
            </a:avLst>
          </a:prstGeom>
          <a:solidFill>
            <a:srgbClr val="16223B"/>
          </a:solidFill>
          <a:ln w="12700">
            <a:solidFill>
              <a:srgbClr val="2B3D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21098" y="1828800"/>
            <a:ext cx="457200" cy="457200"/>
          </a:xfrm>
          <a:prstGeom prst="ellipse">
            <a:avLst/>
          </a:prstGeom>
          <a:solidFill>
            <a:srgbClr val="1C2A47"/>
          </a:solidFill>
          <a:ln w="12700">
            <a:solidFill>
              <a:srgbClr val="2B3D5F"/>
            </a:solidFill>
            <a:prstDash val="solid"/>
          </a:ln>
        </p:spPr>
      </p:sp>
      <p:pic>
        <p:nvPicPr>
          <p:cNvPr id="13" name="Image 2" descr="/home/claude/icons/map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0534" y="1888236"/>
            <a:ext cx="338328" cy="33832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521098" y="2423160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Reference Every Step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4521098" y="2880360"/>
            <a:ext cx="31494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trajectory regenerated from the vehicle′s current position at each call.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082077" y="1600200"/>
            <a:ext cx="3606698" cy="1965960"/>
          </a:xfrm>
          <a:prstGeom prst="roundRect">
            <a:avLst>
              <a:gd name="adj" fmla="val 4186"/>
            </a:avLst>
          </a:prstGeom>
          <a:solidFill>
            <a:srgbClr val="16223B"/>
          </a:solidFill>
          <a:ln w="12700">
            <a:solidFill>
              <a:srgbClr val="2B3D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10677" y="1828800"/>
            <a:ext cx="457200" cy="457200"/>
          </a:xfrm>
          <a:prstGeom prst="ellipse">
            <a:avLst/>
          </a:prstGeom>
          <a:solidFill>
            <a:srgbClr val="1C2A47"/>
          </a:solidFill>
          <a:ln w="12700">
            <a:solidFill>
              <a:srgbClr val="2B3D5F"/>
            </a:solidFill>
            <a:prstDash val="solid"/>
          </a:ln>
        </p:spPr>
      </p:sp>
      <p:pic>
        <p:nvPicPr>
          <p:cNvPr id="18" name="Image 3" descr="/home/claude/icons/activity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0113" y="1888236"/>
            <a:ext cx="338328" cy="33832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310677" y="2423160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Stagnation Detection</a:t>
            </a:r>
            <a:endParaRPr lang="en-US" sz="1350" dirty="0"/>
          </a:p>
        </p:txBody>
      </p:sp>
      <p:sp>
        <p:nvSpPr>
          <p:cNvPr id="20" name="Text 14"/>
          <p:cNvSpPr txBox="1"/>
          <p:nvPr/>
        </p:nvSpPr>
        <p:spPr>
          <a:xfrm>
            <a:off x="8310677" y="2880360"/>
            <a:ext cx="31494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Resets the nominal trajectory if SQP converges too fast with a near-zero update.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02920" y="3794760"/>
            <a:ext cx="3606698" cy="1965960"/>
          </a:xfrm>
          <a:prstGeom prst="roundRect">
            <a:avLst>
              <a:gd name="adj" fmla="val 4186"/>
            </a:avLst>
          </a:prstGeom>
          <a:solidFill>
            <a:srgbClr val="16223B"/>
          </a:solidFill>
          <a:ln w="12700">
            <a:solidFill>
              <a:srgbClr val="2B3D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31520" y="4023360"/>
            <a:ext cx="457200" cy="457200"/>
          </a:xfrm>
          <a:prstGeom prst="ellipse">
            <a:avLst/>
          </a:prstGeom>
          <a:solidFill>
            <a:srgbClr val="1C2A47"/>
          </a:solidFill>
          <a:ln w="12700">
            <a:solidFill>
              <a:srgbClr val="2B3D5F"/>
            </a:solidFill>
            <a:prstDash val="solid"/>
          </a:ln>
        </p:spPr>
      </p:sp>
      <p:pic>
        <p:nvPicPr>
          <p:cNvPr id="23" name="Image 4" descr="/home/claude/icons/alerttriangle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" y="4082796"/>
            <a:ext cx="338328" cy="33832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31520" y="4617720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QP Failure Recovery</a:t>
            </a:r>
            <a:endParaRPr lang="en-US" sz="1350" dirty="0"/>
          </a:p>
        </p:txBody>
      </p:sp>
      <p:sp>
        <p:nvSpPr>
          <p:cNvPr id="25" name="Text 18"/>
          <p:cNvSpPr txBox="1"/>
          <p:nvPr/>
        </p:nvSpPr>
        <p:spPr>
          <a:xfrm>
            <a:off x="731520" y="5074920"/>
            <a:ext cx="31494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the polynomial reference with feedforward controls instead of freezing.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4292498" y="3794760"/>
            <a:ext cx="3606698" cy="1965960"/>
          </a:xfrm>
          <a:prstGeom prst="roundRect">
            <a:avLst>
              <a:gd name="adj" fmla="val 4186"/>
            </a:avLst>
          </a:prstGeom>
          <a:solidFill>
            <a:srgbClr val="16223B"/>
          </a:solidFill>
          <a:ln w="12700">
            <a:solidFill>
              <a:srgbClr val="2B3D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521098" y="4023360"/>
            <a:ext cx="457200" cy="457200"/>
          </a:xfrm>
          <a:prstGeom prst="ellipse">
            <a:avLst/>
          </a:prstGeom>
          <a:solidFill>
            <a:srgbClr val="1C2A47"/>
          </a:solidFill>
          <a:ln w="12700">
            <a:solidFill>
              <a:srgbClr val="2B3D5F"/>
            </a:solidFill>
            <a:prstDash val="solid"/>
          </a:ln>
        </p:spPr>
      </p:sp>
      <p:pic>
        <p:nvPicPr>
          <p:cNvPr id="28" name="Image 5" descr="/home/claude/icons/clock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0534" y="4082796"/>
            <a:ext cx="338328" cy="33832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4521098" y="4617720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 Warm-Start Detection</a:t>
            </a:r>
            <a:endParaRPr lang="en-US" sz="1350" dirty="0"/>
          </a:p>
        </p:txBody>
      </p:sp>
      <p:sp>
        <p:nvSpPr>
          <p:cNvPr id="30" name="Text 22"/>
          <p:cNvSpPr txBox="1"/>
          <p:nvPr/>
        </p:nvSpPr>
        <p:spPr>
          <a:xfrm>
            <a:off x="4521098" y="5074920"/>
            <a:ext cx="31494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Discards the warm-start and uses a fresh reference if lastMaxAbs ≥ 5.0.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8082077" y="3794760"/>
            <a:ext cx="3606698" cy="1965960"/>
          </a:xfrm>
          <a:prstGeom prst="roundRect">
            <a:avLst>
              <a:gd name="adj" fmla="val 4186"/>
            </a:avLst>
          </a:prstGeom>
          <a:solidFill>
            <a:srgbClr val="16223B"/>
          </a:solidFill>
          <a:ln w="12700">
            <a:solidFill>
              <a:srgbClr val="2B3D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310677" y="4023360"/>
            <a:ext cx="457200" cy="457200"/>
          </a:xfrm>
          <a:prstGeom prst="ellipse">
            <a:avLst/>
          </a:prstGeom>
          <a:solidFill>
            <a:srgbClr val="1C2A47"/>
          </a:solidFill>
          <a:ln w="12700">
            <a:solidFill>
              <a:srgbClr val="2B3D5F"/>
            </a:solidFill>
            <a:prstDash val="solid"/>
          </a:ln>
        </p:spPr>
      </p:sp>
      <p:pic>
        <p:nvPicPr>
          <p:cNvPr id="33" name="Image 6" descr="/home/claude/icons/compass_cy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0113" y="4082796"/>
            <a:ext cx="338328" cy="338328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8310677" y="4617720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Angle Wrapping</a:t>
            </a:r>
            <a:endParaRPr lang="en-US" sz="1350" dirty="0"/>
          </a:p>
        </p:txBody>
      </p:sp>
      <p:sp>
        <p:nvSpPr>
          <p:cNvPr id="35" name="Text 26"/>
          <p:cNvSpPr txBox="1"/>
          <p:nvPr/>
        </p:nvSpPr>
        <p:spPr>
          <a:xfrm>
            <a:off x="8310677" y="5074920"/>
            <a:ext cx="31494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ψ is wrapped to [−π, π] throughout to avoid wraparound artifacts.</a:t>
            </a:r>
            <a:endParaRPr lang="en-US" sz="1050" dirty="0"/>
          </a:p>
        </p:txBody>
      </p:sp>
      <p:sp>
        <p:nvSpPr>
          <p:cNvPr id="36" name="Text 27"/>
          <p:cNvSpPr txBox="1"/>
          <p:nvPr/>
        </p:nvSpPr>
        <p:spPr>
          <a:xfrm>
            <a:off x="50292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ROBOTTRAJECTORYOPT</a:t>
            </a:r>
            <a:endParaRPr lang="en-US" sz="800" dirty="0"/>
          </a:p>
        </p:txBody>
      </p:sp>
      <p:sp>
        <p:nvSpPr>
          <p:cNvPr id="37" name="Text 28"/>
          <p:cNvSpPr txBox="1"/>
          <p:nvPr/>
        </p:nvSpPr>
        <p:spPr>
          <a:xfrm>
            <a:off x="3809848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SOLVING THE QP</a:t>
            </a:r>
            <a:endParaRPr lang="en-US" sz="800" dirty="0"/>
          </a:p>
        </p:txBody>
      </p:sp>
      <p:sp>
        <p:nvSpPr>
          <p:cNvPr id="38" name="Text 29"/>
          <p:cNvSpPr txBox="1"/>
          <p:nvPr/>
        </p:nvSpPr>
        <p:spPr>
          <a:xfrm>
            <a:off x="1114013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ircuit_pattern.png">    </p:cNvPr>
          <p:cNvPicPr>
            <a:picLocks noChangeAspect="1"/>
          </p:cNvPicPr>
          <p:nvPr/>
        </p:nvPicPr>
        <p:blipFill>
          <a:blip r:embed="rId1">
            <a:alphaModFix amt="11000"/>
          </a:blip>
          <a:stretch>
            <a:fillRect/>
          </a:stretch>
        </p:blipFill>
        <p:spPr>
          <a:xfrm flipH="1">
            <a:off x="-2743200" y="1828800"/>
            <a:ext cx="82296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071055" y="0"/>
            <a:ext cx="5120640" cy="6858000"/>
          </a:xfrm>
          <a:prstGeom prst="roundRect">
            <a:avLst/>
          </a:prstGeom>
          <a:solidFill>
            <a:srgbClr val="16223B">
              <a:alpha val="45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11480" y="137160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0" b="1" dirty="0">
                <a:solidFill>
                  <a:srgbClr val="1C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5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342900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GUI Application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422452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E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natID desktop app for experimentation &amp; visual verification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30352" y="4919472"/>
            <a:ext cx="100584" cy="100584"/>
          </a:xfrm>
          <a:prstGeom prst="ellipse">
            <a:avLst/>
          </a:prstGeom>
          <a:solidFill>
            <a:srgbClr val="FF7A3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58952" y="477316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overview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30352" y="5225796"/>
            <a:ext cx="100584" cy="100584"/>
          </a:xfrm>
          <a:prstGeom prst="ellipse">
            <a:avLst/>
          </a:prstGeom>
          <a:solidFill>
            <a:srgbClr val="FF7A3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58952" y="507949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built-in scenarios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30352" y="5532120"/>
            <a:ext cx="100584" cy="100584"/>
          </a:xfrm>
          <a:prstGeom prst="ellipse">
            <a:avLst/>
          </a:prstGeom>
          <a:solidFill>
            <a:srgbClr val="FF7A3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58952" y="538581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Solver controls &amp; settings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30352" y="5838444"/>
            <a:ext cx="100584" cy="100584"/>
          </a:xfrm>
          <a:prstGeom prst="ellipse">
            <a:avLst/>
          </a:prstGeom>
          <a:solidFill>
            <a:srgbClr val="FF7A3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58952" y="569214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telemetry &amp; multi-language UI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ROBOTTRAJECTORYOPT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1114013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GUI APPLICATION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85855" y="438912"/>
            <a:ext cx="502920" cy="502920"/>
          </a:xfrm>
          <a:prstGeom prst="ellipse">
            <a:avLst/>
          </a:prstGeom>
          <a:solidFill>
            <a:srgbClr val="1C2A47"/>
          </a:solidFill>
          <a:ln w="12700">
            <a:solidFill>
              <a:srgbClr val="2B3D5F"/>
            </a:solidFill>
            <a:prstDash val="solid"/>
          </a:ln>
        </p:spPr>
      </p:sp>
      <p:pic>
        <p:nvPicPr>
          <p:cNvPr id="5" name="Image 0" descr="/home/claude/icons/monitor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1235" y="504292"/>
            <a:ext cx="372161" cy="37216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1554480"/>
            <a:ext cx="50292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500"/>
              </a:spcAft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Three coordinated panes: a top toolbar, a large path-tracking canvas with two time-series canvases beneath it, and a right-hand sidebar of live controls &amp; telemetry.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The main canvas plots the </a:t>
            </a:r>
            <a:pPr indent="0" marL="0">
              <a:buNone/>
            </a:pPr>
            <a:r>
              <a:rPr lang="en-US" sz="1250" b="1" dirty="0">
                <a:solidFill>
                  <a:srgbClr val="F0D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trailed history</a:t>
            </a:r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(yellow), the </a:t>
            </a:r>
            <a:pPr indent="0" marL="0">
              <a:buNone/>
            </a:pPr>
            <a:r>
              <a:rPr lang="en-US" sz="1250" b="1" dirty="0">
                <a:solidFill>
                  <a:srgbClr val="E8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path</a:t>
            </a:r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(red), and the </a:t>
            </a:r>
            <a:pPr indent="0" marL="0">
              <a:buNone/>
            </a:pPr>
            <a:r>
              <a:rPr lang="en-US" sz="1250" b="1" dirty="0">
                <a:solidFill>
                  <a:srgbClr val="2E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horizon</a:t>
            </a:r>
            <a:pPr indent="0" marL="0">
              <a:spcAft>
                <a:spcPts val="1500"/>
              </a:spcAft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(blue) — all drawn live, every step.</a:t>
            </a:r>
            <a:endParaRPr lang="en-US" sz="1250" dirty="0"/>
          </a:p>
          <a:p>
            <a:pPr indent="0" marL="0">
              <a:spcAft>
                <a:spcPts val="1500"/>
              </a:spcAft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The vehicle icon is a rectangle with a heading indicator, oriented along ψ; a running Tracking Err readout sits in the canvas corner.</a:t>
            </a:r>
            <a:endParaRPr lang="en-US" sz="1250" dirty="0"/>
          </a:p>
          <a:p>
            <a:pPr indent="0" marL="0">
              <a:spcAft>
                <a:spcPts val="1500"/>
              </a:spcAft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"Follow Vehicle Camera" toggles whether the viewport auto-recenters on the moving vehicle.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806440" y="1554480"/>
            <a:ext cx="5882335" cy="4160520"/>
          </a:xfrm>
          <a:prstGeom prst="roundRect">
            <a:avLst>
              <a:gd name="adj" fmla="val 2198"/>
            </a:avLst>
          </a:prstGeom>
          <a:solidFill>
            <a:srgbClr val="1C2A47"/>
          </a:solidFill>
          <a:ln w="12700">
            <a:solidFill>
              <a:srgbClr val="2B3D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8" name="Image 1" descr="/home/claude/repo/res/images/initi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032" y="1719072"/>
            <a:ext cx="5553151" cy="346913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806440" y="5870448"/>
            <a:ext cx="5882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Line scenario before the first solve — scenario dropdown open, predicted horizon flat, control plots empty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50292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ROBOTTRAJECTORYOPT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3809848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 APPLICATION</a:t>
            </a:r>
            <a:endParaRPr lang="en-US" sz="800" dirty="0"/>
          </a:p>
        </p:txBody>
      </p:sp>
      <p:sp>
        <p:nvSpPr>
          <p:cNvPr id="12" name="Text 8"/>
          <p:cNvSpPr txBox="1"/>
          <p:nvPr/>
        </p:nvSpPr>
        <p:spPr>
          <a:xfrm>
            <a:off x="1114013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GUI APPLICATION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Built-in Scenarios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85855" y="438912"/>
            <a:ext cx="502920" cy="502920"/>
          </a:xfrm>
          <a:prstGeom prst="ellipse">
            <a:avLst/>
          </a:prstGeom>
          <a:solidFill>
            <a:srgbClr val="1C2A47"/>
          </a:solidFill>
          <a:ln w="12700">
            <a:solidFill>
              <a:srgbClr val="2B3D5F"/>
            </a:solidFill>
            <a:prstDash val="solid"/>
          </a:ln>
        </p:spPr>
      </p:sp>
      <p:pic>
        <p:nvPicPr>
          <p:cNvPr id="5" name="Image 0" descr="/home/claude/icons/flag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1235" y="504292"/>
            <a:ext cx="372161" cy="372161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539496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39776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EC4D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Scenario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EC4D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Setup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Straight 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v₀=1.0 m/s · no obstacles · 85 m — sanity-check baseline, reference is the x-axis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Lane 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v₀=1.5 m/s · 2 obstacles (r=0.5) · ±1.5 m S-weave · 40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1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S-Curve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v₀=1.5 m/s · no obstacles · negated Lane-Change quintic · isolates pure tracking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02920" y="3794760"/>
            <a:ext cx="5394960" cy="1005840"/>
          </a:xfrm>
          <a:prstGeom prst="roundRect">
            <a:avLst>
              <a:gd name="adj" fmla="val 8182"/>
            </a:avLst>
          </a:prstGeom>
          <a:solidFill>
            <a:srgbClr val="0B121F"/>
          </a:solidFill>
          <a:ln w="12700">
            <a:solidFill>
              <a:srgbClr val="2B3D5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04088" y="3941064"/>
            <a:ext cx="49926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c5 = ampl/915849,  c4 = ∓100·c5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c3 = ±3200·c5,  c2 = ∓32000·c5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roots (and zero slope) at x = 0, x = 40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493776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Lane-Change / S-Curve coefficients are generated in closed form from one amplitude parameter (ampl = 1.5 m).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263640" y="1600200"/>
            <a:ext cx="5425135" cy="4160520"/>
          </a:xfrm>
          <a:prstGeom prst="roundRect">
            <a:avLst>
              <a:gd name="adj" fmla="val 2198"/>
            </a:avLst>
          </a:prstGeom>
          <a:solidFill>
            <a:srgbClr val="1C2A47"/>
          </a:solidFill>
          <a:ln w="12700">
            <a:solidFill>
              <a:srgbClr val="2B3D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1" name="Image 1" descr="/home/claude/repo/res/images/lan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764792"/>
            <a:ext cx="5095951" cy="318763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263640" y="5806440"/>
            <a:ext cx="54251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Change, mid-weave: two obstacles (red circles), yellow history, red reference, blue predicted horizon — solver converged in 3 iterations</a:t>
            </a:r>
            <a:endParaRPr lang="en-US" sz="1000" dirty="0"/>
          </a:p>
        </p:txBody>
      </p:sp>
      <p:sp>
        <p:nvSpPr>
          <p:cNvPr id="13" name="Text 8"/>
          <p:cNvSpPr txBox="1"/>
          <p:nvPr/>
        </p:nvSpPr>
        <p:spPr>
          <a:xfrm>
            <a:off x="50292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ROBOTTRAJECTORYOPT</a:t>
            </a:r>
            <a:endParaRPr lang="en-US" sz="800" dirty="0"/>
          </a:p>
        </p:txBody>
      </p:sp>
      <p:sp>
        <p:nvSpPr>
          <p:cNvPr id="14" name="Text 9"/>
          <p:cNvSpPr txBox="1"/>
          <p:nvPr/>
        </p:nvSpPr>
        <p:spPr>
          <a:xfrm>
            <a:off x="3809848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 APPLICATION</a:t>
            </a:r>
            <a:endParaRPr lang="en-US" sz="800" dirty="0"/>
          </a:p>
        </p:txBody>
      </p:sp>
      <p:sp>
        <p:nvSpPr>
          <p:cNvPr id="15" name="Text 10"/>
          <p:cNvSpPr txBox="1"/>
          <p:nvPr/>
        </p:nvSpPr>
        <p:spPr>
          <a:xfrm>
            <a:off x="1114013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GUI APPLICATION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Solver Controls &amp; Settings Dialog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85855" y="438912"/>
            <a:ext cx="502920" cy="502920"/>
          </a:xfrm>
          <a:prstGeom prst="ellipse">
            <a:avLst/>
          </a:prstGeom>
          <a:solidFill>
            <a:srgbClr val="1C2A47"/>
          </a:solidFill>
          <a:ln w="12700">
            <a:solidFill>
              <a:srgbClr val="2B3D5F"/>
            </a:solidFill>
            <a:prstDash val="solid"/>
          </a:ln>
        </p:spPr>
      </p:sp>
      <p:pic>
        <p:nvPicPr>
          <p:cNvPr id="5" name="Image 0" descr="/home/claude/icons/settings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1235" y="504292"/>
            <a:ext cx="372161" cy="37216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16002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 DIALOG — 5 configurable parameters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20240"/>
          <a:ext cx="539496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37033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EC4D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Parameter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EC4D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Range (default)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UI languages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Iterations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1,000,000  (60)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Tolerance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1e-8 – 1.0  (2×10⁻³)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Size 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 – 1.0  (0.12)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Active Set Iter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100  (20)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437083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7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TOOLBAR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4681728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Start / Stop — begins or halts continuous, timer-driven stepping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Reset — restores the scenario′s initial state, clears warm-start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Back / Forward — step through previously captured snapshots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263640" y="1600200"/>
            <a:ext cx="5425135" cy="4160520"/>
          </a:xfrm>
          <a:prstGeom prst="roundRect">
            <a:avLst>
              <a:gd name="adj" fmla="val 2198"/>
            </a:avLst>
          </a:prstGeom>
          <a:solidFill>
            <a:srgbClr val="1C2A47"/>
          </a:solidFill>
          <a:ln w="12700">
            <a:solidFill>
              <a:srgbClr val="2B3D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1" name="Image 1" descr="/home/claude/assets/settings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2250018"/>
            <a:ext cx="5095951" cy="286088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263640" y="5806440"/>
            <a:ext cx="54251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Language, Max Iterations, Tolerance, Step Size α, and Max Active Set Iter — all five apply to the SQP solver for every subsequent step</a:t>
            </a:r>
            <a:endParaRPr lang="en-US" sz="1000" dirty="0"/>
          </a:p>
        </p:txBody>
      </p:sp>
      <p:sp>
        <p:nvSpPr>
          <p:cNvPr id="13" name="Text 8"/>
          <p:cNvSpPr txBox="1"/>
          <p:nvPr/>
        </p:nvSpPr>
        <p:spPr>
          <a:xfrm>
            <a:off x="50292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ROBOTTRAJECTORYOPT</a:t>
            </a:r>
            <a:endParaRPr lang="en-US" sz="800" dirty="0"/>
          </a:p>
        </p:txBody>
      </p:sp>
      <p:sp>
        <p:nvSpPr>
          <p:cNvPr id="14" name="Text 9"/>
          <p:cNvSpPr txBox="1"/>
          <p:nvPr/>
        </p:nvSpPr>
        <p:spPr>
          <a:xfrm>
            <a:off x="3809848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 APPLICATION</a:t>
            </a:r>
            <a:endParaRPr lang="en-US" sz="800" dirty="0"/>
          </a:p>
        </p:txBody>
      </p:sp>
      <p:sp>
        <p:nvSpPr>
          <p:cNvPr id="15" name="Text 10"/>
          <p:cNvSpPr txBox="1"/>
          <p:nvPr/>
        </p:nvSpPr>
        <p:spPr>
          <a:xfrm>
            <a:off x="1114013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GUI APPLICATION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Telemetry &amp; Multilingual UI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85855" y="438912"/>
            <a:ext cx="502920" cy="502920"/>
          </a:xfrm>
          <a:prstGeom prst="ellipse">
            <a:avLst/>
          </a:prstGeom>
          <a:solidFill>
            <a:srgbClr val="1C2A47"/>
          </a:solidFill>
          <a:ln w="12700">
            <a:solidFill>
              <a:srgbClr val="2B3D5F"/>
            </a:solidFill>
            <a:prstDash val="solid"/>
          </a:ln>
        </p:spPr>
      </p:sp>
      <p:pic>
        <p:nvPicPr>
          <p:cNvPr id="5" name="Image 0" descr="/home/claude/icons/globe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1235" y="504292"/>
            <a:ext cx="372161" cy="37216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160020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METRICS HUD (SIDEBAR)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20240"/>
          <a:ext cx="630936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4617720"/>
              </a:tblGrid>
              <a:tr h="3977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2EC4D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Field</a:t>
                      </a:r>
                      <a:endParaRPr lang="en-US" sz="103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2EC4D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Meaning</a:t>
                      </a:r>
                      <a:endParaRPr lang="en-US" sz="103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X / 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vehicle position (m), from bicycle-model integration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Heading (ψ) / Velocity (v)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heading (rad) and speed (m/s)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1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Tracking Error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to the nearest point on the discretized reference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Solver Status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Converged / Running (maxIter hit) / Failed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1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SQP Itr/Step, Max|dZ|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EA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Iteration count and final per-variable change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132320" y="1600200"/>
            <a:ext cx="4556455" cy="4434840"/>
          </a:xfrm>
          <a:prstGeom prst="roundRect">
            <a:avLst>
              <a:gd name="adj" fmla="val 1856"/>
            </a:avLst>
          </a:prstGeom>
          <a:solidFill>
            <a:srgbClr val="16223B"/>
          </a:solidFill>
          <a:ln w="12700">
            <a:solidFill>
              <a:srgbClr val="2B3D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406640" y="1783080"/>
            <a:ext cx="4007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7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UI LANGUAGES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7406640" y="2148840"/>
            <a:ext cx="1866748" cy="438912"/>
          </a:xfrm>
          <a:prstGeom prst="roundRect">
            <a:avLst>
              <a:gd name="adj" fmla="val 50000"/>
            </a:avLst>
          </a:prstGeom>
          <a:solidFill>
            <a:srgbClr val="1C2A4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406640" y="2148840"/>
            <a:ext cx="18667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English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9547708" y="2148840"/>
            <a:ext cx="1866748" cy="438912"/>
          </a:xfrm>
          <a:prstGeom prst="roundRect">
            <a:avLst>
              <a:gd name="adj" fmla="val 50000"/>
            </a:avLst>
          </a:prstGeom>
          <a:solidFill>
            <a:srgbClr val="1C2A4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9547708" y="2148840"/>
            <a:ext cx="18667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Bosnian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406640" y="2715768"/>
            <a:ext cx="1866748" cy="438912"/>
          </a:xfrm>
          <a:prstGeom prst="roundRect">
            <a:avLst>
              <a:gd name="adj" fmla="val 50000"/>
            </a:avLst>
          </a:prstGeom>
          <a:solidFill>
            <a:srgbClr val="1C2A4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406640" y="2715768"/>
            <a:ext cx="18667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German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9547708" y="2715768"/>
            <a:ext cx="1866748" cy="438912"/>
          </a:xfrm>
          <a:prstGeom prst="roundRect">
            <a:avLst>
              <a:gd name="adj" fmla="val 50000"/>
            </a:avLst>
          </a:prstGeom>
          <a:solidFill>
            <a:srgbClr val="1C2A4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547708" y="2715768"/>
            <a:ext cx="18667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Spanish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406640" y="3282696"/>
            <a:ext cx="1866748" cy="438912"/>
          </a:xfrm>
          <a:prstGeom prst="roundRect">
            <a:avLst>
              <a:gd name="adj" fmla="val 50000"/>
            </a:avLst>
          </a:prstGeom>
          <a:solidFill>
            <a:srgbClr val="1C2A4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406640" y="3282696"/>
            <a:ext cx="18667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French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9547708" y="3282696"/>
            <a:ext cx="1866748" cy="438912"/>
          </a:xfrm>
          <a:prstGeom prst="roundRect">
            <a:avLst>
              <a:gd name="adj" fmla="val 50000"/>
            </a:avLst>
          </a:prstGeom>
          <a:solidFill>
            <a:srgbClr val="1C2A4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9547708" y="3282696"/>
            <a:ext cx="18667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Japanese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7406640" y="4114800"/>
            <a:ext cx="40078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files live under res/tr/ as XML resources. The language is changed from the Settings dialog; a restart applies it.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50292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ROBOTTRAJECTORYOPT</a:t>
            </a:r>
            <a:endParaRPr lang="en-US" sz="800" dirty="0"/>
          </a:p>
        </p:txBody>
      </p:sp>
      <p:sp>
        <p:nvSpPr>
          <p:cNvPr id="24" name="Text 20"/>
          <p:cNvSpPr txBox="1"/>
          <p:nvPr/>
        </p:nvSpPr>
        <p:spPr>
          <a:xfrm>
            <a:off x="3809848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 APPLICATION</a:t>
            </a:r>
            <a:endParaRPr lang="en-US" sz="800" dirty="0"/>
          </a:p>
        </p:txBody>
      </p:sp>
      <p:sp>
        <p:nvSpPr>
          <p:cNvPr id="25" name="Text 21"/>
          <p:cNvSpPr txBox="1"/>
          <p:nvPr/>
        </p:nvSpPr>
        <p:spPr>
          <a:xfrm>
            <a:off x="1114013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ircuit_pattern.png">    </p:cNvPr>
          <p:cNvPicPr>
            <a:picLocks noChangeAspect="1"/>
          </p:cNvPicPr>
          <p:nvPr/>
        </p:nvPicPr>
        <p:blipFill>
          <a:blip r:embed="rId1">
            <a:alphaModFix amt="11000"/>
          </a:blip>
          <a:stretch>
            <a:fillRect/>
          </a:stretch>
        </p:blipFill>
        <p:spPr>
          <a:xfrm flipH="1">
            <a:off x="-2743200" y="1828800"/>
            <a:ext cx="82296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071055" y="0"/>
            <a:ext cx="5120640" cy="6858000"/>
          </a:xfrm>
          <a:prstGeom prst="roundRect">
            <a:avLst/>
          </a:prstGeom>
          <a:solidFill>
            <a:srgbClr val="16223B">
              <a:alpha val="45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11480" y="137160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0" b="1" dirty="0">
                <a:solidFill>
                  <a:srgbClr val="1C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5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342900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&amp; Correctness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422452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E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 the final implementation against the original proposal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30352" y="4919472"/>
            <a:ext cx="100584" cy="100584"/>
          </a:xfrm>
          <a:prstGeom prst="ellipse">
            <a:avLst/>
          </a:prstGeom>
          <a:solidFill>
            <a:srgbClr val="FF7A3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58952" y="477316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Mathematical verification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30352" y="5225796"/>
            <a:ext cx="100584" cy="100584"/>
          </a:xfrm>
          <a:prstGeom prst="ellipse">
            <a:avLst/>
          </a:prstGeom>
          <a:solidFill>
            <a:srgbClr val="FF7A3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58952" y="507949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Control-flow audit — "no cheating"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ROBOTTRAJECTORYOPT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1114013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VERIFICATION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Verification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85855" y="438912"/>
            <a:ext cx="502920" cy="502920"/>
          </a:xfrm>
          <a:prstGeom prst="ellipse">
            <a:avLst/>
          </a:prstGeom>
          <a:solidFill>
            <a:srgbClr val="1C2A47"/>
          </a:solidFill>
          <a:ln w="12700">
            <a:solidFill>
              <a:srgbClr val="2B3D5F"/>
            </a:solidFill>
            <a:prstDash val="solid"/>
          </a:ln>
        </p:spPr>
      </p:sp>
      <p:pic>
        <p:nvPicPr>
          <p:cNvPr id="5" name="Image 0" descr="/home/claude/icons/checkcircle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1235" y="504292"/>
            <a:ext cx="372161" cy="37216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1536192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src/ tree was cross-checked line-by-line against the mathematical formulation. Every claim below is confirmed by direct inspection of MpcEngine.h, MpcSqp.h, MpcActiveSetQp.h, MpcCost.h, MpcConstraints.h and MpcInequality.h.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02920" y="2331720"/>
            <a:ext cx="11185855" cy="713232"/>
          </a:xfrm>
          <a:prstGeom prst="roundRect">
            <a:avLst>
              <a:gd name="adj" fmla="val 11538"/>
            </a:avLst>
          </a:prstGeom>
          <a:solidFill>
            <a:srgbClr val="16223B"/>
          </a:solidFill>
          <a:ln w="12700">
            <a:solidFill>
              <a:srgbClr val="2B3D5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67512" y="2459736"/>
            <a:ext cx="457200" cy="457200"/>
          </a:xfrm>
          <a:prstGeom prst="ellipse">
            <a:avLst/>
          </a:prstGeom>
          <a:solidFill>
            <a:srgbClr val="1C2A47"/>
          </a:solidFill>
          <a:ln w="12700">
            <a:solidFill>
              <a:srgbClr val="2B3D5F"/>
            </a:solidFill>
            <a:prstDash val="solid"/>
          </a:ln>
        </p:spPr>
      </p:sp>
      <p:pic>
        <p:nvPicPr>
          <p:cNvPr id="9" name="Image 1" descr="/home/claude/icons/checkcircle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" y="2519172"/>
            <a:ext cx="338328" cy="33832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2404872"/>
            <a:ext cx="10180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F8"/>
                </a:solidFill>
              </a:rPr>
              <a:t>Dynamics linearization   </a:t>
            </a:r>
            <a:pPr indent="0" marL="0">
              <a:buNone/>
            </a:pPr>
            <a:r>
              <a:rPr lang="en-US" sz="1150" dirty="0">
                <a:solidFill>
                  <a:srgbClr val="8FA8C4"/>
                </a:solidFill>
              </a:rPr>
              <a:t>All four state equations linearized with the correct partial derivatives, including ψ-dynamics linearized around (v_nom, δ_nom).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02920" y="3172968"/>
            <a:ext cx="11185855" cy="713232"/>
          </a:xfrm>
          <a:prstGeom prst="roundRect">
            <a:avLst>
              <a:gd name="adj" fmla="val 11538"/>
            </a:avLst>
          </a:prstGeom>
          <a:solidFill>
            <a:srgbClr val="16223B"/>
          </a:solidFill>
          <a:ln w="12700">
            <a:solidFill>
              <a:srgbClr val="2B3D5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67512" y="3300984"/>
            <a:ext cx="457200" cy="457200"/>
          </a:xfrm>
          <a:prstGeom prst="ellipse">
            <a:avLst/>
          </a:prstGeom>
          <a:solidFill>
            <a:srgbClr val="1C2A47"/>
          </a:solidFill>
          <a:ln w="12700">
            <a:solidFill>
              <a:srgbClr val="2B3D5F"/>
            </a:solidFill>
            <a:prstDash val="solid"/>
          </a:ln>
        </p:spPr>
      </p:sp>
      <p:pic>
        <p:nvPicPr>
          <p:cNvPr id="13" name="Image 2" descr="/home/claude/icons/checkcircle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3360420"/>
            <a:ext cx="338328" cy="33832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3246120"/>
            <a:ext cx="10180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F8"/>
                </a:solidFill>
              </a:rPr>
              <a:t>Cost function   </a:t>
            </a:r>
            <a:pPr indent="0" marL="0">
              <a:buNone/>
            </a:pPr>
            <a:r>
              <a:rPr lang="en-US" sz="1150" dirty="0">
                <a:solidFill>
                  <a:srgbClr val="8FA8C4"/>
                </a:solidFill>
              </a:rPr>
              <a:t>The diagonal Hessian and linear term correctly implement the quadratic tracking-and-effort cost.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02920" y="4014216"/>
            <a:ext cx="11185855" cy="713232"/>
          </a:xfrm>
          <a:prstGeom prst="roundRect">
            <a:avLst>
              <a:gd name="adj" fmla="val 11538"/>
            </a:avLst>
          </a:prstGeom>
          <a:solidFill>
            <a:srgbClr val="16223B"/>
          </a:solidFill>
          <a:ln w="12700">
            <a:solidFill>
              <a:srgbClr val="2B3D5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67512" y="4142232"/>
            <a:ext cx="457200" cy="457200"/>
          </a:xfrm>
          <a:prstGeom prst="ellipse">
            <a:avLst/>
          </a:prstGeom>
          <a:solidFill>
            <a:srgbClr val="1C2A47"/>
          </a:solidFill>
          <a:ln w="12700">
            <a:solidFill>
              <a:srgbClr val="2B3D5F"/>
            </a:solidFill>
            <a:prstDash val="solid"/>
          </a:ln>
        </p:spPr>
      </p:sp>
      <p:pic>
        <p:nvPicPr>
          <p:cNvPr id="17" name="Image 3" descr="/home/claude/icons/checkcircle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" y="4201668"/>
            <a:ext cx="338328" cy="33832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4087368"/>
            <a:ext cx="10180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F8"/>
                </a:solidFill>
              </a:rPr>
              <a:t>Obstacle linearization   </a:t>
            </a:r>
            <a:pPr indent="0" marL="0">
              <a:buNone/>
            </a:pPr>
            <a:r>
              <a:rPr lang="en-US" sz="1150" dirty="0">
                <a:solidFill>
                  <a:srgbClr val="8FA8C4"/>
                </a:solidFill>
              </a:rPr>
              <a:t>Correct gradient-based linearization of the nonlinear distance-inequality constraint.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02920" y="4855464"/>
            <a:ext cx="11185855" cy="713232"/>
          </a:xfrm>
          <a:prstGeom prst="roundRect">
            <a:avLst>
              <a:gd name="adj" fmla="val 11538"/>
            </a:avLst>
          </a:prstGeom>
          <a:solidFill>
            <a:srgbClr val="16223B"/>
          </a:solidFill>
          <a:ln w="12700">
            <a:solidFill>
              <a:srgbClr val="2B3D5F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67512" y="4983480"/>
            <a:ext cx="457200" cy="457200"/>
          </a:xfrm>
          <a:prstGeom prst="ellipse">
            <a:avLst/>
          </a:prstGeom>
          <a:solidFill>
            <a:srgbClr val="1C2A47"/>
          </a:solidFill>
          <a:ln w="12700">
            <a:solidFill>
              <a:srgbClr val="2B3D5F"/>
            </a:solidFill>
            <a:prstDash val="solid"/>
          </a:ln>
        </p:spPr>
      </p:sp>
      <p:pic>
        <p:nvPicPr>
          <p:cNvPr id="21" name="Image 4" descr="/home/claude/icons/checkcircle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" y="5042916"/>
            <a:ext cx="338328" cy="33832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80160" y="4928616"/>
            <a:ext cx="10180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F8"/>
                </a:solidFill>
              </a:rPr>
              <a:t>Velocity bounds   </a:t>
            </a:r>
            <a:pPr indent="0" marL="0">
              <a:buNone/>
            </a:pPr>
            <a:r>
              <a:rPr lang="en-US" sz="1150" dirty="0">
                <a:solidFill>
                  <a:srgbClr val="8FA8C4"/>
                </a:solidFill>
              </a:rPr>
              <a:t>Correctly encoded as inequality rows in the QP (0 ≤ v ≤ v_max), not a post-hoc clamp.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502920" y="5696712"/>
            <a:ext cx="11185855" cy="713232"/>
          </a:xfrm>
          <a:prstGeom prst="roundRect">
            <a:avLst>
              <a:gd name="adj" fmla="val 11538"/>
            </a:avLst>
          </a:prstGeom>
          <a:solidFill>
            <a:srgbClr val="16223B"/>
          </a:solidFill>
          <a:ln w="12700">
            <a:solidFill>
              <a:srgbClr val="2B3D5F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67512" y="5824728"/>
            <a:ext cx="457200" cy="457200"/>
          </a:xfrm>
          <a:prstGeom prst="ellipse">
            <a:avLst/>
          </a:prstGeom>
          <a:solidFill>
            <a:srgbClr val="1C2A47"/>
          </a:solidFill>
          <a:ln w="12700">
            <a:solidFill>
              <a:srgbClr val="2B3D5F"/>
            </a:solidFill>
            <a:prstDash val="solid"/>
          </a:ln>
        </p:spPr>
      </p:sp>
      <p:pic>
        <p:nvPicPr>
          <p:cNvPr id="25" name="Image 5" descr="/home/claude/icons/checkcircle_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" y="5884164"/>
            <a:ext cx="338328" cy="33832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280160" y="5769864"/>
            <a:ext cx="10180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F8"/>
                </a:solidFill>
              </a:rPr>
              <a:t>Tag-based warm-starting   </a:t>
            </a:r>
            <a:pPr indent="0" marL="0">
              <a:buNone/>
            </a:pPr>
            <a:r>
              <a:rPr lang="en-US" sz="1150" dirty="0">
                <a:solidFill>
                  <a:srgbClr val="8FA8C4"/>
                </a:solidFill>
              </a:rPr>
              <a:t>Constraints are correctly matched across SQP iterations via the (kind, t, idx) tag encoding.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50292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ROBOTTRAJECTORYOPT</a:t>
            </a:r>
            <a:endParaRPr lang="en-US" sz="800" dirty="0"/>
          </a:p>
        </p:txBody>
      </p:sp>
      <p:sp>
        <p:nvSpPr>
          <p:cNvPr id="28" name="Text 20"/>
          <p:cNvSpPr txBox="1"/>
          <p:nvPr/>
        </p:nvSpPr>
        <p:spPr>
          <a:xfrm>
            <a:off x="3809848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</a:t>
            </a:r>
            <a:endParaRPr lang="en-US" sz="800" dirty="0"/>
          </a:p>
        </p:txBody>
      </p:sp>
      <p:sp>
        <p:nvSpPr>
          <p:cNvPr id="29" name="Text 21"/>
          <p:cNvSpPr txBox="1"/>
          <p:nvPr/>
        </p:nvSpPr>
        <p:spPr>
          <a:xfrm>
            <a:off x="1114013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VERIFICATION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Implementation Match the Proposal?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85855" y="438912"/>
            <a:ext cx="502920" cy="502920"/>
          </a:xfrm>
          <a:prstGeom prst="ellipse">
            <a:avLst/>
          </a:prstGeom>
          <a:solidFill>
            <a:srgbClr val="1C2A47"/>
          </a:solidFill>
          <a:ln w="12700">
            <a:solidFill>
              <a:srgbClr val="2B3D5F"/>
            </a:solidFill>
            <a:prstDash val="solid"/>
          </a:ln>
        </p:spPr>
      </p:sp>
      <p:pic>
        <p:nvPicPr>
          <p:cNvPr id="5" name="Image 0" descr="/home/claude/icons/checkcircle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1235" y="504292"/>
            <a:ext cx="372161" cy="37216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572768"/>
            <a:ext cx="5623560" cy="4480560"/>
          </a:xfrm>
          <a:prstGeom prst="roundRect">
            <a:avLst>
              <a:gd name="adj" fmla="val 1837"/>
            </a:avLst>
          </a:prstGeom>
          <a:solidFill>
            <a:srgbClr val="0B121F"/>
          </a:solidFill>
          <a:ln w="12700">
            <a:solidFill>
              <a:srgbClr val="2B3D5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04088" y="1719072"/>
            <a:ext cx="5221224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08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MainView::advanceOneStep</a:t>
            </a:r>
            <a:endParaRPr lang="en-US" sz="108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8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MpcEngine::Solve</a:t>
            </a:r>
            <a:endParaRPr lang="en-US" sz="108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8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-&gt; ensureNominalInitialized</a:t>
            </a:r>
            <a:endParaRPr lang="en-US" sz="108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8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-&gt; MpcSqp::Solve</a:t>
            </a:r>
            <a:endParaRPr lang="en-US" sz="108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8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-&gt; buildBoundRows (constant)</a:t>
            </a:r>
            <a:endParaRPr lang="en-US" sz="108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8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-&gt; for iter in 0..maxIter:</a:t>
            </a:r>
            <a:endParaRPr lang="en-US" sz="108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8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UpdateReferenceTrajectory</a:t>
            </a:r>
            <a:endParaRPr lang="en-US" sz="108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8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buildObstacleRows</a:t>
            </a:r>
            <a:endParaRPr lang="en-US" sz="108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8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SolveActiveSetQP</a:t>
            </a:r>
            <a:endParaRPr lang="en-US" sz="108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8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-&gt; sparse LDLᵀ factorize/solve</a:t>
            </a:r>
            <a:endParaRPr lang="en-US" sz="108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8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-&gt; extract delta[0], accel[0]</a:t>
            </a:r>
            <a:endParaRPr lang="en-US" sz="108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8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bicycle model update</a:t>
            </a:r>
            <a:endParaRPr lang="en-US" sz="1080" dirty="0"/>
          </a:p>
        </p:txBody>
      </p:sp>
      <p:sp>
        <p:nvSpPr>
          <p:cNvPr id="8" name="Text 5"/>
          <p:cNvSpPr txBox="1"/>
          <p:nvPr/>
        </p:nvSpPr>
        <p:spPr>
          <a:xfrm>
            <a:off x="6446520" y="1600200"/>
            <a:ext cx="5242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ED5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"NO CHEATING" MEANS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46520" y="2011680"/>
            <a:ext cx="329184" cy="329184"/>
          </a:xfrm>
          <a:prstGeom prst="ellipse">
            <a:avLst/>
          </a:prstGeom>
          <a:solidFill>
            <a:srgbClr val="1C2A47"/>
          </a:solidFill>
          <a:ln w="12700">
            <a:solidFill>
              <a:srgbClr val="2B3D5F"/>
            </a:solidFill>
            <a:prstDash val="solid"/>
          </a:ln>
        </p:spPr>
      </p:sp>
      <p:pic>
        <p:nvPicPr>
          <p:cNvPr id="10" name="Image 1" descr="/home/claude/icons/checkcircle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314" y="2054474"/>
            <a:ext cx="243596" cy="2435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903720" y="1965960"/>
            <a:ext cx="47850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reference interpolation — the reference enters only through the cost function′s z_ref vector</a:t>
            </a:r>
            <a:endParaRPr lang="en-US" sz="1130" dirty="0"/>
          </a:p>
        </p:txBody>
      </p:sp>
      <p:sp>
        <p:nvSpPr>
          <p:cNvPr id="12" name="Shape 8"/>
          <p:cNvSpPr/>
          <p:nvPr/>
        </p:nvSpPr>
        <p:spPr>
          <a:xfrm>
            <a:off x="6446520" y="2816352"/>
            <a:ext cx="329184" cy="329184"/>
          </a:xfrm>
          <a:prstGeom prst="ellipse">
            <a:avLst/>
          </a:prstGeom>
          <a:solidFill>
            <a:srgbClr val="1C2A47"/>
          </a:solidFill>
          <a:ln w="12700">
            <a:solidFill>
              <a:srgbClr val="2B3D5F"/>
            </a:solidFill>
            <a:prstDash val="solid"/>
          </a:ln>
        </p:spPr>
      </p:sp>
      <p:pic>
        <p:nvPicPr>
          <p:cNvPr id="13" name="Image 2" descr="/home/claude/icons/checkcircle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314" y="2859146"/>
            <a:ext cx="243596" cy="2435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903720" y="2770632"/>
            <a:ext cx="47850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pre-computed trajectories — no lookup table, no offline generation</a:t>
            </a:r>
            <a:endParaRPr lang="en-US" sz="1130" dirty="0"/>
          </a:p>
        </p:txBody>
      </p:sp>
      <p:sp>
        <p:nvSpPr>
          <p:cNvPr id="15" name="Shape 10"/>
          <p:cNvSpPr/>
          <p:nvPr/>
        </p:nvSpPr>
        <p:spPr>
          <a:xfrm>
            <a:off x="6446520" y="3621024"/>
            <a:ext cx="329184" cy="329184"/>
          </a:xfrm>
          <a:prstGeom prst="ellipse">
            <a:avLst/>
          </a:prstGeom>
          <a:solidFill>
            <a:srgbClr val="1C2A47"/>
          </a:solidFill>
          <a:ln w="12700">
            <a:solidFill>
              <a:srgbClr val="2B3D5F"/>
            </a:solidFill>
            <a:prstDash val="solid"/>
          </a:ln>
        </p:spPr>
      </p:sp>
      <p:pic>
        <p:nvPicPr>
          <p:cNvPr id="16" name="Image 3" descr="/home/claude/icons/checkcircle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314" y="3663818"/>
            <a:ext cx="243596" cy="24359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903720" y="3575304"/>
            <a:ext cx="47850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PID or heuristic tracking — no pure-pursuit, no cross-track-error controller</a:t>
            </a:r>
            <a:endParaRPr lang="en-US" sz="1130" dirty="0"/>
          </a:p>
        </p:txBody>
      </p:sp>
      <p:sp>
        <p:nvSpPr>
          <p:cNvPr id="18" name="Shape 12"/>
          <p:cNvSpPr/>
          <p:nvPr/>
        </p:nvSpPr>
        <p:spPr>
          <a:xfrm>
            <a:off x="6446520" y="4425696"/>
            <a:ext cx="329184" cy="329184"/>
          </a:xfrm>
          <a:prstGeom prst="ellipse">
            <a:avLst/>
          </a:prstGeom>
          <a:solidFill>
            <a:srgbClr val="1C2A47"/>
          </a:solidFill>
          <a:ln w="12700">
            <a:solidFill>
              <a:srgbClr val="2B3D5F"/>
            </a:solidFill>
            <a:prstDash val="solid"/>
          </a:ln>
        </p:spPr>
      </p:sp>
      <p:pic>
        <p:nvPicPr>
          <p:cNvPr id="19" name="Image 4" descr="/home/claude/icons/checkcircle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9314" y="4468490"/>
            <a:ext cx="243596" cy="24359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903720" y="4379976"/>
            <a:ext cx="47850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state projection or snapping — the state evolves through bicycle-model integration</a:t>
            </a:r>
            <a:endParaRPr lang="en-US" sz="1130" dirty="0"/>
          </a:p>
        </p:txBody>
      </p:sp>
      <p:sp>
        <p:nvSpPr>
          <p:cNvPr id="21" name="Shape 14"/>
          <p:cNvSpPr/>
          <p:nvPr/>
        </p:nvSpPr>
        <p:spPr>
          <a:xfrm>
            <a:off x="6446520" y="5230368"/>
            <a:ext cx="329184" cy="329184"/>
          </a:xfrm>
          <a:prstGeom prst="ellipse">
            <a:avLst/>
          </a:prstGeom>
          <a:solidFill>
            <a:srgbClr val="1C2A47"/>
          </a:solidFill>
          <a:ln w="12700">
            <a:solidFill>
              <a:srgbClr val="2B3D5F"/>
            </a:solidFill>
            <a:prstDash val="solid"/>
          </a:ln>
        </p:spPr>
      </p:sp>
      <p:pic>
        <p:nvPicPr>
          <p:cNvPr id="22" name="Image 5" descr="/home/claude/icons/checkcircle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9314" y="5273162"/>
            <a:ext cx="243596" cy="24359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903720" y="5184648"/>
            <a:ext cx="47850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solver stubs — the Active-Set QP is a genuine numerical solver</a:t>
            </a:r>
            <a:endParaRPr lang="en-US" sz="1130" dirty="0"/>
          </a:p>
        </p:txBody>
      </p:sp>
      <p:sp>
        <p:nvSpPr>
          <p:cNvPr id="24" name="Text 16"/>
          <p:cNvSpPr txBox="1"/>
          <p:nvPr/>
        </p:nvSpPr>
        <p:spPr>
          <a:xfrm>
            <a:off x="50292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ROBOTTRAJECTORYOPT</a:t>
            </a:r>
            <a:endParaRPr lang="en-US" sz="800" dirty="0"/>
          </a:p>
        </p:txBody>
      </p:sp>
      <p:sp>
        <p:nvSpPr>
          <p:cNvPr id="25" name="Text 17"/>
          <p:cNvSpPr txBox="1"/>
          <p:nvPr/>
        </p:nvSpPr>
        <p:spPr>
          <a:xfrm>
            <a:off x="3809848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</a:t>
            </a:r>
            <a:endParaRPr lang="en-US" sz="800" dirty="0"/>
          </a:p>
        </p:txBody>
      </p:sp>
      <p:sp>
        <p:nvSpPr>
          <p:cNvPr id="26" name="Text 18"/>
          <p:cNvSpPr txBox="1"/>
          <p:nvPr/>
        </p:nvSpPr>
        <p:spPr>
          <a:xfrm>
            <a:off x="1114013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ircuit_pattern.png">    </p:cNvPr>
          <p:cNvPicPr>
            <a:picLocks noChangeAspect="1"/>
          </p:cNvPicPr>
          <p:nvPr/>
        </p:nvPicPr>
        <p:blipFill>
          <a:blip r:embed="rId1">
            <a:alphaModFix amt="11000"/>
          </a:blip>
          <a:stretch>
            <a:fillRect/>
          </a:stretch>
        </p:blipFill>
        <p:spPr>
          <a:xfrm flipH="1">
            <a:off x="-2743200" y="1828800"/>
            <a:ext cx="82296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071055" y="0"/>
            <a:ext cx="5120640" cy="6858000"/>
          </a:xfrm>
          <a:prstGeom prst="roundRect">
            <a:avLst/>
          </a:prstGeom>
          <a:solidFill>
            <a:srgbClr val="16223B">
              <a:alpha val="45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11480" y="137160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0" b="1" dirty="0">
                <a:solidFill>
                  <a:srgbClr val="1C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5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342900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&amp; Tech Stack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422452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E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shipped, what it′s built on, and how it maps to the original plan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30352" y="4919472"/>
            <a:ext cx="100584" cy="100584"/>
          </a:xfrm>
          <a:prstGeom prst="ellipse">
            <a:avLst/>
          </a:prstGeom>
          <a:solidFill>
            <a:srgbClr val="FF7A3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58952" y="477316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 stack &amp; known limitations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30352" y="5225796"/>
            <a:ext cx="100584" cy="100584"/>
          </a:xfrm>
          <a:prstGeom prst="ellipse">
            <a:avLst/>
          </a:prstGeom>
          <a:solidFill>
            <a:srgbClr val="FF7A3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58952" y="507949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Proposal vs. delivered implementation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ROBOTTRAJECTORYOPT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1114013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FEATURES &amp; TECH STACK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 &amp; Known 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85855" y="438912"/>
            <a:ext cx="502920" cy="502920"/>
          </a:xfrm>
          <a:prstGeom prst="ellipse">
            <a:avLst/>
          </a:prstGeom>
          <a:solidFill>
            <a:srgbClr val="1C2A47"/>
          </a:solidFill>
          <a:ln w="12700">
            <a:solidFill>
              <a:srgbClr val="2B3D5F"/>
            </a:solidFill>
            <a:prstDash val="solid"/>
          </a:ln>
        </p:spPr>
      </p:sp>
      <p:pic>
        <p:nvPicPr>
          <p:cNvPr id="5" name="Image 0" descr="/home/claude/icons/code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1235" y="504292"/>
            <a:ext cx="372161" cy="37216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16002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WITH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1965960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1C2A4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" y="196596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C++17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91840" y="1965960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1C2A4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91840" y="196596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CMake 3.18+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2920" y="2514600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1C2A4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2920" y="251460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natID Framework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291840" y="2514600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1C2A4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291840" y="251460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Sparse LDLᵀ solver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02920" y="3063240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1C2A4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306324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 License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291840" y="3063240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1C2A4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291840" y="306324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 · macOS · Linux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502920" y="37490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natID also supplies the dense/sparse matrix library (Dense/Sparse::IDblMatrix) and the natGUI toolkit — no Eigen, JUCE, or other third-party dependency is required.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263640" y="1600200"/>
            <a:ext cx="5425135" cy="4434840"/>
          </a:xfrm>
          <a:prstGeom prst="roundRect">
            <a:avLst>
              <a:gd name="adj" fmla="val 1856"/>
            </a:avLst>
          </a:prstGeom>
          <a:solidFill>
            <a:srgbClr val="16223B"/>
          </a:solidFill>
          <a:ln w="12700">
            <a:solidFill>
              <a:srgbClr val="2B3D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6537960" y="1783080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7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KNOWN LIMITATIONS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6537960" y="2148840"/>
            <a:ext cx="4876495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Quadratic cost only — nonlinear dynamics are handled via first-order linearization inside SQP, not a second-order correction.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Short horizon — N=20, dt=0.1s looks only 2 seconds ahead.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Single robot — no multi-vehicle collision avoidance.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Static obstacles only — moving obstacles would need per-iteration re-linearization.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Display-axis plot bounds (±0.436 rad, ±1.0 m/s²) are a visualization choice — the real solver bounds are wider (±0.6 rad, ±3.0 m/s²).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0292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ROBOTTRAJECTORYOPT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3809848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 &amp; TECH STACK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1114013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FEATURES &amp; TECH STACK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vs. Delivered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85855" y="438912"/>
            <a:ext cx="502920" cy="502920"/>
          </a:xfrm>
          <a:prstGeom prst="ellipse">
            <a:avLst/>
          </a:prstGeom>
          <a:solidFill>
            <a:srgbClr val="1C2A47"/>
          </a:solidFill>
          <a:ln w="12700">
            <a:solidFill>
              <a:srgbClr val="2B3D5F"/>
            </a:solidFill>
            <a:prstDash val="solid"/>
          </a:ln>
        </p:spPr>
      </p:sp>
      <p:pic>
        <p:nvPicPr>
          <p:cNvPr id="5" name="Image 0" descr="/home/claude/icons/award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1235" y="504292"/>
            <a:ext cx="372161" cy="37216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00200"/>
            <a:ext cx="5410048" cy="4160520"/>
          </a:xfrm>
          <a:prstGeom prst="roundRect">
            <a:avLst>
              <a:gd name="adj" fmla="val 1978"/>
            </a:avLst>
          </a:prstGeom>
          <a:solidFill>
            <a:srgbClr val="1C2A47"/>
          </a:solidFill>
          <a:ln w="12700">
            <a:solidFill>
              <a:srgbClr val="2B3D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77240" y="1856232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PROPOSED  ·  May 2026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21992"/>
            <a:ext cx="486140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Sparse LU factorization for the chained dynamics constraint matrix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KKT / Lagrange-Newton handling of inequality constraints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Two open-source C++ MPC repos adapted as a mathematical starting point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Dense matrices for state vectors; sparse for the block-diagonal physics constraints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natID GUI rendering the path, obstacles, and a live re-solve on obstacle drag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78728" y="1600200"/>
            <a:ext cx="5410048" cy="4160520"/>
          </a:xfrm>
          <a:prstGeom prst="roundRect">
            <a:avLst>
              <a:gd name="adj" fmla="val 1978"/>
            </a:avLst>
          </a:prstGeom>
          <a:solidFill>
            <a:srgbClr val="16223B"/>
          </a:solidFill>
          <a:ln w="15875">
            <a:solidFill>
              <a:srgbClr val="2EC4D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553048" y="1856232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DELIVERED  ·  FINAL IMPLEMENTATION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553048" y="2221992"/>
            <a:ext cx="486140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Full Active-Set QP with sparse indefinite LDLᵀ factorization and warm-starting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Inequality constraints as explicit QP rows — bounds and obstacles alike, not Lagrange-Newton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Reference repos kept unused under res/mpc/ as background material only — audited, not compiled (Section 7)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Custom Dense/Sparse matrix types from natID, exactly as proposed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Real-time natID GUI: live path, predicted horizon, telemetry, and a 6-language settings dialog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718408" y="5989320"/>
            <a:ext cx="4754880" cy="384048"/>
          </a:xfrm>
          <a:prstGeom prst="roundRect">
            <a:avLst>
              <a:gd name="adj" fmla="val 50000"/>
            </a:avLst>
          </a:prstGeom>
          <a:solidFill>
            <a:srgbClr val="1C2A47"/>
          </a:solidFill>
          <a:ln w="12700">
            <a:solidFill>
              <a:srgbClr val="3ED59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18408" y="59893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ED5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Verified faithful to the proposal — §7 audit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ROBOTTRAJECTORYOPT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3809848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 &amp; TECH STACK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1114013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ircuit_pattern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6217920" y="-1097280"/>
            <a:ext cx="7772400" cy="7772400"/>
          </a:xfrm>
          <a:prstGeom prst="rect">
            <a:avLst/>
          </a:prstGeom>
        </p:spPr>
      </p:pic>
      <p:pic>
        <p:nvPicPr>
          <p:cNvPr id="3" name="Image 1" descr="/home/claude/repo/res/image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488" y="960120"/>
            <a:ext cx="1188720" cy="11887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1"/>
          <p:cNvSpPr txBox="1"/>
          <p:nvPr/>
        </p:nvSpPr>
        <p:spPr>
          <a:xfrm>
            <a:off x="1981048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E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steering and acceleration command shown is the direct output of a live, verifiable optimization solve.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3901288" y="3977640"/>
            <a:ext cx="4389120" cy="457200"/>
          </a:xfrm>
          <a:prstGeom prst="roundRect">
            <a:avLst>
              <a:gd name="adj" fmla="val 50000"/>
            </a:avLst>
          </a:prstGeom>
          <a:solidFill>
            <a:srgbClr val="1C2A4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3901288" y="39776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github.com/ehadziabdic/RobotTrajectoryOpt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0" y="470916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2F8"/>
                </a:solidFill>
              </a:rPr>
              <a:t>Emin Hadžiabdić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FA8C4"/>
                </a:solidFill>
              </a:rPr>
              <a:t>Faculty of Electrical Engineering (ETF), University of Sarajevo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FA8C4"/>
                </a:solidFill>
              </a:rPr>
              <a:t>Data Science and Artificial Intelligence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495648" y="5806440"/>
            <a:ext cx="3200400" cy="530352"/>
          </a:xfrm>
          <a:prstGeom prst="roundRect">
            <a:avLst>
              <a:gd name="adj" fmla="val 10345"/>
            </a:avLst>
          </a:prstGeom>
          <a:solidFill>
            <a:srgbClr val="F4F8FB"/>
          </a:solidFill>
          <a:ln/>
        </p:spPr>
      </p:sp>
      <p:pic>
        <p:nvPicPr>
          <p:cNvPr id="10" name="Image 2" descr="/home/claude/assets/etf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808" y="5925312"/>
            <a:ext cx="1371600" cy="374904"/>
          </a:xfrm>
          <a:prstGeom prst="rect">
            <a:avLst/>
          </a:prstGeom>
        </p:spPr>
      </p:pic>
      <p:pic>
        <p:nvPicPr>
          <p:cNvPr id="11" name="Image 3" descr="/home/claude/assets/dsai_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1568" y="5888736"/>
            <a:ext cx="868680" cy="39776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50292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ROBOTTRAJECTORYOPT</a:t>
            </a:r>
            <a:endParaRPr lang="en-US" sz="800" dirty="0"/>
          </a:p>
        </p:txBody>
      </p:sp>
      <p:sp>
        <p:nvSpPr>
          <p:cNvPr id="13" name="Text 7"/>
          <p:cNvSpPr txBox="1"/>
          <p:nvPr/>
        </p:nvSpPr>
        <p:spPr>
          <a:xfrm>
            <a:off x="1114013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3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2026-08-29T15:33:59Z</dcterms:created>
  <dcterms:modified xsi:type="dcterms:W3CDTF">2026-08-29T15:33:59Z</dcterms:modified>
</cp:coreProperties>
</file>